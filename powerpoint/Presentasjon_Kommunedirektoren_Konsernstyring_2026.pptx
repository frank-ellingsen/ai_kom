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3C5FD"/>
                </a:solidFill>
              </a:defRPr>
            </a:pPr>
            <a:r>
              <a:t>KRISTIANSAND KOMMUNE  •  KOMMUNEDIREKTØRENS LEDERGRUPPE</a:t>
            </a:r>
          </a:p>
          <a:p>
            <a:pPr>
              <a:spcBef>
                <a:spcPts val="1200"/>
              </a:spcBef>
              <a:defRPr sz="3000" b="1">
                <a:solidFill>
                  <a:srgbClr val="FFFFFF"/>
                </a:solidFill>
              </a:defRPr>
            </a:pPr>
            <a:r>
              <a:t>Månedsrapport: Konsernoppfølging &amp; Strakstiltaksplan 2026</a:t>
            </a:r>
          </a:p>
          <a:p>
            <a:pPr>
              <a:spcBef>
                <a:spcPts val="800"/>
              </a:spcBef>
              <a:defRPr sz="1500">
                <a:solidFill>
                  <a:srgbClr val="E0E7FF"/>
                </a:solidFill>
              </a:defRPr>
            </a:pPr>
            <a:r>
              <a:t>Status Driftsregnskap per 2. Tertial  |  Internkontroll jf. Kommuneloven § 14-5  |  Offl. § 14</a:t>
            </a:r>
          </a:p>
          <a:p>
            <a:pPr>
              <a:spcBef>
                <a:spcPts val="2800"/>
              </a:spcBef>
              <a:defRPr sz="1150">
                <a:solidFill>
                  <a:srgbClr val="BFDBFE"/>
                </a:solidFill>
              </a:defRPr>
            </a:pPr>
            <a:r>
              <a:t>Dato: 14.10.2026  •  Camilla Dunsæd, Kommunedirektør  /  Frank Ellingsen, Senior Controller</a:t>
            </a:r>
          </a:p>
          <a:p>
            <a:pPr>
              <a:spcBef>
                <a:spcPts val="400"/>
              </a:spcBef>
              <a:defRPr sz="950">
                <a:solidFill>
                  <a:srgbClr val="93C5FD"/>
                </a:solidFill>
              </a:defRPr>
            </a:pPr>
            <a:r>
              <a:t>Audit Stempel (SHA-256): bf580cecde746f9d3514dc1c...  |  Stage-Gate Port 9 Attestert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Konsernstatus: Netto merforbruk på 2,49 mill. kr – Strakstiltak ACT 01–04 iverksatt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Executive Dashboard for Kommunedirektøren: Månedsoppfølging av driftsbalanse, likviditet og lånegjeld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NETTO DRIFTSRESULTAT</a:t>
            </a:r>
          </a:p>
          <a:p>
            <a:pPr>
              <a:spcBef>
                <a:spcPts val="800"/>
              </a:spcBef>
              <a:defRPr sz="2400" b="1">
                <a:solidFill>
                  <a:srgbClr val="16A34A"/>
                </a:solidFill>
              </a:defRPr>
            </a:pPr>
            <a:r>
              <a:t>1,75 %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Mål: &gt;= 1,75 % av brutto inntekter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DISPOSISJONSFOND</a:t>
            </a:r>
          </a:p>
          <a:p>
            <a:pPr>
              <a:spcBef>
                <a:spcPts val="800"/>
              </a:spcBef>
              <a:defRPr sz="2400" b="1">
                <a:solidFill>
                  <a:srgbClr val="1E3A8A"/>
                </a:solidFill>
              </a:defRPr>
            </a:pPr>
            <a:r>
              <a:t>8,2 % / 615 Mkr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Mål: &gt;= 8,0 % (Robust reserve)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28600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82880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LÅNEGJELD KONSOLIDERT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83,1 % / 6,8 mrd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Maks 85 % av inntekter ekskl. VA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97680"/>
            <a:ext cx="10698480" cy="173736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Konklusjon for ledergruppen: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Samlet konsernavvik på 2 489 000 kr drives av Oppvekst (1,42M) og Helse (1,07M) – Byutvikling har mindreforbruk (-0,2M).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Strakstiltakene ACT-01 til ACT-04 frigjør kr 460 000 per måned fra 1. september og bringer helårsdriften i balanse.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bf580cecde74  •  Side 2 av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Sektoravvik: Oppvekst og Helse står for 100 % av driftsmerforbruket i konsernet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Periodisert driftsregnskap per august 2026 i henhold til KOSTRA-rammer og bruttoprinsippet § 14-6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645920"/>
          <a:ext cx="1069848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Sektor / Virksomhetsområde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Budsjett YTD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Regnskap YTD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Kr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Avvik %</a:t>
                      </a:r>
                    </a:p>
                  </a:txBody>
                  <a:tcPr>
                    <a:solidFill>
                      <a:srgbClr val="1E3A8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01 Oppvekst og Utdanning (Grunnskole/Barnehage)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850 000 000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851 420 000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+1 420 000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+0,17 %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02 Helse og Mestring (Omsorgssentre/Hjemmetjeneste)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920 000 000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921 069 000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+1 069 000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+0,12 %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03 By- og Stedsutvikling (Eiendom, Samferdsel, Park)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310 000 000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309 800 000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6A34A"/>
                          </a:solidFill>
                        </a:defRPr>
                      </a:pPr>
                      <a:r>
                        <a:t>-200 000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16A34A"/>
                          </a:solidFill>
                        </a:defRPr>
                      </a:pPr>
                      <a:r>
                        <a:t>-0,06 %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04 Kultur og Innbyggerdialog (Bibliotek, Idrett)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180 000 000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180 100 000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4B5563"/>
                          </a:solidFill>
                        </a:defRPr>
                      </a:pPr>
                      <a:r>
                        <a:t>+100 000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4B5563"/>
                          </a:solidFill>
                        </a:defRPr>
                      </a:pPr>
                      <a:r>
                        <a:t>+0,06 %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/>
                      </a:pPr>
                      <a:r>
                        <a:t>05 Sentral Administrasjon &amp; Fellestjenester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140 000 000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/>
                      </a:pPr>
                      <a:r>
                        <a:t>140 100 000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4B5563"/>
                          </a:solidFill>
                        </a:defRPr>
                      </a:pPr>
                      <a:r>
                        <a:t>+100 000 kr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4B5563"/>
                          </a:solidFill>
                        </a:defRPr>
                      </a:pPr>
                      <a:r>
                        <a:t>+0,07 %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>
                        <a:defRPr sz="1000" b="1"/>
                      </a:pPr>
                      <a:r>
                        <a:t>TOTALT KONSOLIDERT DRIFTSREGNSKAP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/>
                      </a:pPr>
                      <a:r>
                        <a:t>2 400 000 000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/>
                      </a:pPr>
                      <a:r>
                        <a:t>2 402 489 000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+2 489 000 kr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+0,10 %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bf580cecde74  •  Side 3 av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Strakstiltaksplan: 4 administrative grep kutter 460 000 kr/mnd fra 1. september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Iverksatt av Kommunedirektøren i medhold av internkontrollbestemmelsene i Kommuneloven § 14-5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ACT-01: Vikarstopp Grunnskole</a:t>
            </a:r>
          </a:p>
          <a:p>
            <a:pPr>
              <a:spcBef>
                <a:spcPts val="300"/>
              </a:spcBef>
              <a:defRPr sz="1100" b="1">
                <a:solidFill>
                  <a:srgbClr val="16A34A"/>
                </a:solidFill>
              </a:defRPr>
            </a:pPr>
            <a:r>
              <a:t>Sektor Oppvekst  •  Beregnet effekt: 170 000 kr / mnd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Stopp for korttidsinnleie (&lt; 3 dager). Etablering av intern vikarring mellom skolene i Vågsbygd og Grim.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45920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ACT-02: Bemanningsjustering Helse</a:t>
            </a:r>
          </a:p>
          <a:p>
            <a:pPr>
              <a:spcBef>
                <a:spcPts val="300"/>
              </a:spcBef>
              <a:defRPr sz="1100" b="1">
                <a:solidFill>
                  <a:srgbClr val="16A34A"/>
                </a:solidFill>
              </a:defRPr>
            </a:pPr>
            <a:r>
              <a:t>Sektor Helse og Mestring  •  Beregnet effekt: 145 000 kr / mnd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Innføring av langvakter, omfordeling av turnus og restriksjoner på kjøp av private helsevikarer.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49039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8619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ACT-03: Konsulent- og Kursstopp</a:t>
            </a:r>
          </a:p>
          <a:p>
            <a:pPr>
              <a:spcBef>
                <a:spcPts val="300"/>
              </a:spcBef>
              <a:defRPr sz="1100" b="1">
                <a:solidFill>
                  <a:srgbClr val="16A34A"/>
                </a:solidFill>
              </a:defRPr>
            </a:pPr>
            <a:r>
              <a:t>Sektor Kultur &amp; Organisasjon  •  Beregnet effekt: 65 000 kr / mnd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Full stopp for nye eksterne konsulentavtaler, seminarer og ikke-lovpålagt kompetanseheving.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212080" cy="1920240"/>
          </a:xfrm>
          <a:prstGeom prst="roundRect">
            <a:avLst/>
          </a:prstGeom>
          <a:solidFill>
            <a:srgbClr val="FAFAFA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3886199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ACT-04: IKT &amp; Lisenskonsolidering</a:t>
            </a:r>
          </a:p>
          <a:p>
            <a:pPr>
              <a:spcBef>
                <a:spcPts val="300"/>
              </a:spcBef>
              <a:defRPr sz="1100" b="1">
                <a:solidFill>
                  <a:srgbClr val="16A34A"/>
                </a:solidFill>
              </a:defRPr>
            </a:pPr>
            <a:r>
              <a:t>Fellestjenester  •  Beregnet effekt: 80 000 kr / mnd</a:t>
            </a:r>
          </a:p>
          <a:p>
            <a:pPr>
              <a:spcBef>
                <a:spcPts val="400"/>
              </a:spcBef>
              <a:defRPr sz="1000">
                <a:solidFill>
                  <a:srgbClr val="1F2937"/>
                </a:solidFill>
              </a:defRPr>
            </a:pPr>
            <a:r>
              <a:t>Oppsigelse av overlappende programvarelisenser og utsettelse av administrative PC-kjøp.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bf580cecde74  •  Side 4 av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Likviditet og Rentefølsomhet: 62 % fastrente beskytter mot videre renteoppgang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Finansiell risikoprofil for Kristiansand kommunes samlede låneportefølje på 6,8 milliarder kr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LIKVIDITETSRESERVE</a:t>
            </a:r>
          </a:p>
          <a:p>
            <a:pPr>
              <a:spcBef>
                <a:spcPts val="800"/>
              </a:spcBef>
              <a:defRPr sz="2400" b="1">
                <a:solidFill>
                  <a:srgbClr val="1E3A8A"/>
                </a:solidFill>
              </a:defRPr>
            </a:pPr>
            <a:r>
              <a:t>420 Mkr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Ubenyttede trekkrettigheter og bankinnskudd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RENTESENSITIVITET (+50 bps)</a:t>
            </a:r>
          </a:p>
          <a:p>
            <a:pPr>
              <a:spcBef>
                <a:spcPts val="800"/>
              </a:spcBef>
              <a:defRPr sz="2400" b="1">
                <a:solidFill>
                  <a:srgbClr val="DC2626"/>
                </a:solidFill>
              </a:defRPr>
            </a:pPr>
            <a:r>
              <a:t>+12,9 Mkr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Årlig merkostnad på usikret flytende gjeld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645920"/>
            <a:ext cx="3383280" cy="2194560"/>
          </a:xfrm>
          <a:prstGeom prst="roundRect">
            <a:avLst/>
          </a:prstGeom>
          <a:solidFill>
            <a:srgbClr val="FAFAFA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783080"/>
            <a:ext cx="3017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4B5563"/>
                </a:solidFill>
              </a:defRPr>
            </a:pPr>
            <a:r>
              <a:t>FASTRENTEANDEL (SWAPS)</a:t>
            </a:r>
          </a:p>
          <a:p>
            <a:pPr>
              <a:spcBef>
                <a:spcPts val="800"/>
              </a:spcBef>
              <a:defRPr sz="2400" b="1">
                <a:solidFill>
                  <a:srgbClr val="16A34A"/>
                </a:solidFill>
              </a:defRPr>
            </a:pPr>
            <a:r>
              <a:t>62,4 %</a:t>
            </a:r>
          </a:p>
          <a:p>
            <a:pPr>
              <a:spcBef>
                <a:spcPts val="600"/>
              </a:spcBef>
              <a:defRPr sz="1050">
                <a:solidFill>
                  <a:srgbClr val="1F2937"/>
                </a:solidFill>
              </a:defRPr>
            </a:pPr>
            <a:r>
              <a:t>I tråd med finansreglementets krav (50–70 %)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10698480" cy="1920240"/>
          </a:xfrm>
          <a:prstGeom prst="rect">
            <a:avLst/>
          </a:prstGeom>
          <a:solidFill>
            <a:srgbClr val="F3F4F6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E3A8A"/>
                </a:solidFill>
              </a:defRPr>
            </a:pPr>
            <a:r>
              <a:t>Gjeldsstruktur og refinansieringsrisiko:</a:t>
            </a:r>
          </a:p>
          <a:p>
            <a:pPr>
              <a:spcBef>
                <a:spcPts val="400"/>
              </a:spcBef>
              <a:defRPr sz="1100">
                <a:solidFill>
                  <a:srgbClr val="1F2937"/>
                </a:solidFill>
              </a:defRPr>
            </a:pPr>
            <a:r>
              <a:t>• Sertifikatlån på kr 450 000 000 forfaller i Q4 2026. Refinansieres via Kommunalbanken med 5-årig fastrentelån.</a:t>
            </a:r>
          </a:p>
          <a:p>
            <a:pPr>
              <a:defRPr sz="1100">
                <a:solidFill>
                  <a:srgbClr val="1F2937"/>
                </a:solidFill>
              </a:defRPr>
            </a:pPr>
            <a:r>
              <a:t>• Gjennomsnittlig rentebindingstid er 3,8 år. Kommunens likviditetsbuffer tilfredsstiller stresstest for 30 dagers drift.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bf580cecde74  •  Side 5 av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Helårsprognose EOY: Forventet netto driftsresultat lander på 225 mill. kr (1,81 %)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Scenariovurdering for årsresultat 2026 basert på strakstiltak og forventet skatteinngang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DC2626"/>
                </a:solidFill>
              </a:defRPr>
            </a:pPr>
            <a:r>
              <a:t>P90 / Worst Case (Uten tiltak)  ───  178 Mkr (1,43 %)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Risiko for brudd på handlingsregelen (krav 1,75 %). Inndekning krever kutt i disposisjonsfond.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0175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0632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6A34A"/>
                </a:solidFill>
              </a:defRPr>
            </a:pPr>
            <a:r>
              <a:t>P50 / Forventet Bane (Med strakstiltak)  ───  225 Mkr (1,81 %)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Tiltakspakken på 460k/mnd gjenoppretter balanse. Robust margin på 7,5 Mkr over måltall.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389120"/>
            <a:ext cx="10698480" cy="1188720"/>
          </a:xfrm>
          <a:prstGeom prst="roundRect">
            <a:avLst/>
          </a:prstGeom>
          <a:solidFill>
            <a:srgbClr val="FAFAF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3484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1E3A8A"/>
                </a:solidFill>
              </a:defRPr>
            </a:pPr>
            <a:r>
              <a:t>P10 / Best Case (Full tiltakseffekt + skatt)  ───  248 Mkr (1,99 %)</a:t>
            </a:r>
          </a:p>
          <a:p>
            <a:pPr>
              <a:spcBef>
                <a:spcPts val="300"/>
              </a:spcBef>
              <a:defRPr sz="1050">
                <a:solidFill>
                  <a:srgbClr val="1F2937"/>
                </a:solidFill>
              </a:defRPr>
            </a:pPr>
            <a:r>
              <a:t>Akselerert NAV-refusjon og ekstraordinær skatteinngang gir solid overskudd til disposisjonsfond.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bf580cecde74  •  Side 6 av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E3A8A"/>
                </a:solidFill>
                <a:latin typeface="Arial"/>
              </a:defRPr>
            </a:pPr>
            <a:r>
              <a:t>Oppsummering &amp; Beslutningsliste for Kommunedirektørens Ledergruppe</a:t>
            </a:r>
          </a:p>
          <a:p>
            <a:pPr>
              <a:spcBef>
                <a:spcPts val="400"/>
              </a:spcBef>
              <a:defRPr sz="1200">
                <a:solidFill>
                  <a:srgbClr val="4B5563"/>
                </a:solidFill>
                <a:latin typeface="Arial"/>
              </a:defRPr>
            </a:pPr>
            <a:r>
              <a:t>Oppfølgingspunkter for september–desember 2026 jf. internkontrollforskriften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698480" cy="4114800"/>
          </a:xfrm>
          <a:prstGeom prst="roundRect">
            <a:avLst/>
          </a:prstGeom>
          <a:solidFill>
            <a:srgbClr val="F3F4F6"/>
          </a:solidFill>
          <a:ln w="254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Ledergruppens vedtatte tiltaksbeslutninger: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1. Kommunalsjef Oppvekst rapporterer ukentlig vikarforbruk til økonomisjef inntil månedskostnad er stabilisert under 80 000 kr.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2. Kommunalsjef Helse iverksetter turnusjustering med langvakter for å eliminere uplanlagt overtid fra uke 36.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3. Innkjøpsavdelingen stenger for nye konsulentrekvisisjoner uten personlig forhåndsgodkjenning fra kommunedirektøren.</a:t>
            </a:r>
          </a:p>
          <a:p>
            <a:pPr>
              <a:spcBef>
                <a:spcPts val="1000"/>
              </a:spcBef>
              <a:defRPr sz="1150">
                <a:solidFill>
                  <a:srgbClr val="1F2937"/>
                </a:solidFill>
              </a:defRPr>
            </a:pPr>
            <a:r>
              <a:t>4. Økonomiavdelingen forbereder sak til Formannskapet om omdisponering av kr 3,2M fra disposisjonsfondet jf. Kommuneloven § 14-5.</a:t>
            </a:r>
          </a:p>
          <a:p>
            <a:pPr>
              <a:spcBef>
                <a:spcPts val="1400"/>
              </a:spcBef>
              <a:defRPr sz="1000" i="1">
                <a:solidFill>
                  <a:srgbClr val="4B5563"/>
                </a:solidFill>
              </a:defRPr>
            </a:pPr>
            <a:r>
              <a:t>Kristiansand, 14.10.2026  •  Camilla Dunsæd, Kommunedirektør  /  Frank Ellingsen, Senior Controller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B5563"/>
                </a:solidFill>
                <a:latin typeface="Arial"/>
              </a:defRPr>
            </a:pPr>
            <a:r>
              <a:t>Kristiansand kommune | Økonomi &amp; Virksomhetsstyring  •  Audit ID: bf580cecde74  •  Side 7 av 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