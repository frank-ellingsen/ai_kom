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93C5FD"/>
                </a:solidFill>
              </a:defRPr>
            </a:pPr>
            <a:r>
              <a:t>KRISTIANSAND KOMMUNE  •  SEKTOR OPPVEKST OG UTDANNING</a:t>
            </a:r>
          </a:p>
          <a:p>
            <a:pPr>
              <a:spcBef>
                <a:spcPts val="1200"/>
              </a:spcBef>
              <a:defRPr sz="3000" b="1">
                <a:solidFill>
                  <a:srgbClr val="FFFFFF"/>
                </a:solidFill>
              </a:defRPr>
            </a:pPr>
            <a:r>
              <a:t>Bemanningskontroll, Lærernorm &amp; Vikaroptimalisering 2026</a:t>
            </a:r>
          </a:p>
          <a:p>
            <a:pPr>
              <a:spcBef>
                <a:spcPts val="800"/>
              </a:spcBef>
              <a:defRPr sz="1500">
                <a:solidFill>
                  <a:srgbClr val="E0E7FF"/>
                </a:solidFill>
              </a:defRPr>
            </a:pPr>
            <a:r>
              <a:t>Enhetsvis Avviksoppfølging  |  Opplæringsloven § 8-2  |  KOSTRA 1020 Innleie</a:t>
            </a:r>
          </a:p>
          <a:p>
            <a:pPr>
              <a:spcBef>
                <a:spcPts val="2800"/>
              </a:spcBef>
              <a:defRPr sz="1150">
                <a:solidFill>
                  <a:srgbClr val="BFDBFE"/>
                </a:solidFill>
              </a:defRPr>
            </a:pPr>
            <a:r>
              <a:t>Dato: 17.10.2026  •  Kristin E. Bakke, Kommunalsjef  /  Frank Ellingsen, Senior Controller</a:t>
            </a:r>
          </a:p>
          <a:p>
            <a:pPr>
              <a:spcBef>
                <a:spcPts val="400"/>
              </a:spcBef>
              <a:defRPr sz="950">
                <a:solidFill>
                  <a:srgbClr val="93C5FD"/>
                </a:solidFill>
              </a:defRPr>
            </a:pPr>
            <a:r>
              <a:t>Audit Stempel: e2a8eec06bdafd2fbbafa879...  |  Møte med Grunnskolerektorene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Oppvekst: Vikarforbruk i grunnskolen utgjør 1,42 mill. kr i udekket merforbruk</a:t>
            </a:r>
          </a:p>
          <a:p>
            <a:pPr>
              <a:spcBef>
                <a:spcPts val="400"/>
              </a:spcBef>
              <a:defRPr sz="1200">
                <a:solidFill>
                  <a:srgbClr val="4B5563"/>
                </a:solidFill>
                <a:latin typeface="Arial"/>
              </a:defRPr>
            </a:pPr>
            <a:r>
              <a:t>Executive Summary for rektormøtet: Bakgrunn for iverksetting av felles vikarring og vikarstopp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2286000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B5563"/>
                </a:solidFill>
              </a:defRPr>
            </a:pPr>
            <a:r>
              <a:t>YTD AVVIK SKOLER</a:t>
            </a:r>
          </a:p>
          <a:p>
            <a:pPr>
              <a:spcBef>
                <a:spcPts val="800"/>
              </a:spcBef>
              <a:defRPr sz="2400" b="1">
                <a:solidFill>
                  <a:srgbClr val="DC2626"/>
                </a:solidFill>
              </a:defRPr>
            </a:pPr>
            <a:r>
              <a:t>-1 420 000 kr</a:t>
            </a:r>
          </a:p>
          <a:p>
            <a:pPr>
              <a:spcBef>
                <a:spcPts val="600"/>
              </a:spcBef>
              <a:defRPr sz="1050">
                <a:solidFill>
                  <a:srgbClr val="1F2937"/>
                </a:solidFill>
              </a:defRPr>
            </a:pPr>
            <a:r>
              <a:t>Grim og Vågsbygd driver 61 % av merforbruket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2286000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B5563"/>
                </a:solidFill>
              </a:defRPr>
            </a:pPr>
            <a:r>
              <a:t>SYKEFRAVÆR PED. PERSONALE</a:t>
            </a:r>
          </a:p>
          <a:p>
            <a:pPr>
              <a:spcBef>
                <a:spcPts val="800"/>
              </a:spcBef>
              <a:defRPr sz="2400" b="1">
                <a:solidFill>
                  <a:srgbClr val="1E3A8A"/>
                </a:solidFill>
              </a:defRPr>
            </a:pPr>
            <a:r>
              <a:t>12,8 %</a:t>
            </a:r>
          </a:p>
          <a:p>
            <a:pPr>
              <a:spcBef>
                <a:spcPts val="600"/>
              </a:spcBef>
              <a:defRPr sz="1050">
                <a:solidFill>
                  <a:srgbClr val="1F2937"/>
                </a:solidFill>
              </a:defRPr>
            </a:pPr>
            <a:r>
              <a:t>Hovedsakelig sesongpreget korttidsfravær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2286000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B5563"/>
                </a:solidFill>
              </a:defRPr>
            </a:pPr>
            <a:r>
              <a:t>VIKARSTOPP INNSPARING</a:t>
            </a:r>
          </a:p>
          <a:p>
            <a:pPr>
              <a:spcBef>
                <a:spcPts val="800"/>
              </a:spcBef>
              <a:defRPr sz="2400" b="1">
                <a:solidFill>
                  <a:srgbClr val="16A34A"/>
                </a:solidFill>
              </a:defRPr>
            </a:pPr>
            <a:r>
              <a:t>+680 000 kr</a:t>
            </a:r>
          </a:p>
          <a:p>
            <a:pPr>
              <a:spcBef>
                <a:spcPts val="600"/>
              </a:spcBef>
              <a:defRPr sz="1050">
                <a:solidFill>
                  <a:srgbClr val="1F2937"/>
                </a:solidFill>
              </a:defRPr>
            </a:pPr>
            <a:r>
              <a:t>Beregnet effekt 1. sept – 31. des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10698480" cy="1737360"/>
          </a:xfrm>
          <a:prstGeom prst="rect">
            <a:avLst/>
          </a:prstGeom>
          <a:solidFill>
            <a:srgbClr val="F3F4F6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Fokusområder for rektorene i høstsemesteret: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• Vikarbruk skal forhåndsklareres internt: Korttidsfravær dag 1–2 løses ved sammenslåing eller timebytte.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NAV-refusjonskrav skal sendes digitalt senest 5 dager etter endt fraværsperiode for å unngå likviditetsetterslep.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Kristiansand kommune | Økonomi &amp; Virksomhetsstyring  •  Audit ID: e2a8eec06bda  •  Side 2 av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Skolematrise: Grim og Lovisenlev har de høyeste avvikene mot periodisert budsjett</a:t>
            </a:r>
          </a:p>
          <a:p>
            <a:pPr>
              <a:spcBef>
                <a:spcPts val="400"/>
              </a:spcBef>
              <a:defRPr sz="1200">
                <a:solidFill>
                  <a:srgbClr val="4B5563"/>
                </a:solidFill>
                <a:latin typeface="Arial"/>
              </a:defRPr>
            </a:pPr>
            <a:r>
              <a:t>Regnskapstall per 31.08.2026 for de fire største grunnskolene i Kristiansand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828800"/>
                <a:gridCol w="1828800"/>
                <a:gridCol w="1828800"/>
                <a:gridCol w="1828800"/>
              </a:tblGrid>
              <a:tr h="65836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Skoleenhet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Elevtall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Budsjett YTD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Regnskap YTD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Avvik YTD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050"/>
                      </a:pPr>
                      <a:r>
                        <a:t>Grim Skole (Enhet 2020)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/>
                      </a:pPr>
                      <a:r>
                        <a:t>480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/>
                      </a:pPr>
                      <a:r>
                        <a:t>4 150 000 kr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/>
                      </a:pPr>
                      <a:r>
                        <a:t>4 720 000 kr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DC2626"/>
                          </a:solidFill>
                        </a:defRPr>
                      </a:pPr>
                      <a:r>
                        <a:t>-570 000 kr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050"/>
                      </a:pPr>
                      <a:r>
                        <a:t>Lovisenlev Skole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/>
                      </a:pPr>
                      <a:r>
                        <a:t>390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/>
                      </a:pPr>
                      <a:r>
                        <a:t>3 400 000 kr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/>
                      </a:pPr>
                      <a:r>
                        <a:t>3 710 000 kr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DC2626"/>
                          </a:solidFill>
                        </a:defRPr>
                      </a:pPr>
                      <a:r>
                        <a:t>-310 000 kr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050"/>
                      </a:pPr>
                      <a:r>
                        <a:t>Tangvall Skole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/>
                      </a:pPr>
                      <a:r>
                        <a:t>310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/>
                      </a:pPr>
                      <a:r>
                        <a:t>2 650 000 kr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/>
                      </a:pPr>
                      <a:r>
                        <a:t>2 890 000 kr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DC2626"/>
                          </a:solidFill>
                        </a:defRPr>
                      </a:pPr>
                      <a:r>
                        <a:t>-240 000 kr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050"/>
                      </a:pPr>
                      <a:r>
                        <a:t>Vågsbygd Skole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/>
                      </a:pPr>
                      <a:r>
                        <a:t>340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/>
                      </a:pPr>
                      <a:r>
                        <a:t>2 250 000 kr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/>
                      </a:pPr>
                      <a:r>
                        <a:t>2 550 000 kr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DC2626"/>
                          </a:solidFill>
                        </a:defRPr>
                      </a:pPr>
                      <a:r>
                        <a:t>-300 000 kr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Kristiansand kommune | Økonomi &amp; Virksomhetsstyring  •  Audit ID: e2a8eec06bda  •  Side 3 av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Årsaksanalyse: Innkjøp av vikarer (Art 1020) står for 61 % av sektorens merforbruk</a:t>
            </a:r>
          </a:p>
          <a:p>
            <a:pPr>
              <a:spcBef>
                <a:spcPts val="400"/>
              </a:spcBef>
              <a:defRPr sz="1200">
                <a:solidFill>
                  <a:srgbClr val="4B5563"/>
                </a:solidFill>
                <a:latin typeface="Arial"/>
              </a:defRPr>
            </a:pPr>
            <a:r>
              <a:t>Nedbrytning av avviket i Visma ERP viser at faste lønninger følger budsjettplanen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1920240"/>
          </a:xfrm>
          <a:prstGeom prst="roundRect">
            <a:avLst/>
          </a:prstGeom>
          <a:solidFill>
            <a:srgbClr val="FAFAFA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Art 1010 Faste Lønninger</a:t>
            </a:r>
          </a:p>
          <a:p>
            <a:pPr>
              <a:spcBef>
                <a:spcPts val="300"/>
              </a:spcBef>
              <a:defRPr sz="1200" b="1">
                <a:solidFill>
                  <a:srgbClr val="1E3A8A"/>
                </a:solidFill>
              </a:defRPr>
            </a:pPr>
            <a:r>
              <a:t>Avvik YTD: +40 000 kr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</a:defRPr>
            </a:pPr>
            <a:r>
              <a:t>Stabil grunnbemanning. Følger planlagt lønnsoppgjør.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1920240"/>
          </a:xfrm>
          <a:prstGeom prst="roundRect">
            <a:avLst/>
          </a:prstGeom>
          <a:solidFill>
            <a:srgbClr val="FAFAFA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Art 1020 Innkjøp Vikarer</a:t>
            </a:r>
          </a:p>
          <a:p>
            <a:pPr>
              <a:spcBef>
                <a:spcPts val="300"/>
              </a:spcBef>
              <a:defRPr sz="1200" b="1">
                <a:solidFill>
                  <a:srgbClr val="DC2626"/>
                </a:solidFill>
              </a:defRPr>
            </a:pPr>
            <a:r>
              <a:t>Avvik YTD: +870 000 kr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</a:defRPr>
            </a:pPr>
            <a:r>
              <a:t>Akutt overforbruk pga. sesongsykefravær. Krever stans.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5212080" cy="1920240"/>
          </a:xfrm>
          <a:prstGeom prst="roundRect">
            <a:avLst/>
          </a:prstGeom>
          <a:solidFill>
            <a:srgbClr val="FAFAFA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86199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Art 1090 Overtid / Mertid</a:t>
            </a:r>
          </a:p>
          <a:p>
            <a:pPr>
              <a:spcBef>
                <a:spcPts val="300"/>
              </a:spcBef>
              <a:defRPr sz="1200" b="1">
                <a:solidFill>
                  <a:srgbClr val="DC2626"/>
                </a:solidFill>
              </a:defRPr>
            </a:pPr>
            <a:r>
              <a:t>Avvik YTD: +420 000 kr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</a:defRPr>
            </a:pPr>
            <a:r>
              <a:t>Sensur- og eksamensavvikling. Overtidsstopp innført.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749039"/>
            <a:ext cx="5212080" cy="1920240"/>
          </a:xfrm>
          <a:prstGeom prst="roundRect">
            <a:avLst/>
          </a:prstGeom>
          <a:solidFill>
            <a:srgbClr val="FAFAFA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886199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Art 1600 NAV-Refusjoner</a:t>
            </a:r>
          </a:p>
          <a:p>
            <a:pPr>
              <a:spcBef>
                <a:spcPts val="300"/>
              </a:spcBef>
              <a:defRPr sz="1200" b="1">
                <a:solidFill>
                  <a:srgbClr val="16A34A"/>
                </a:solidFill>
              </a:defRPr>
            </a:pPr>
            <a:r>
              <a:t>Avvik YTD: +150 000 kr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</a:defRPr>
            </a:pPr>
            <a:r>
              <a:t>Refusjonsetterslep. Saksbehandlingstid hos NAV.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Kristiansand kommune | Økonomi &amp; Virksomhetsstyring  •  Audit ID: e2a8eec06bda  •  Side 4 av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Lærernorm: Skolene oppfyller lovkravet på 1:15 og 1:20 med betryggende margin</a:t>
            </a:r>
          </a:p>
          <a:p>
            <a:pPr>
              <a:spcBef>
                <a:spcPts val="400"/>
              </a:spcBef>
              <a:defRPr sz="1200">
                <a:solidFill>
                  <a:srgbClr val="4B5563"/>
                </a:solidFill>
                <a:latin typeface="Arial"/>
              </a:defRPr>
            </a:pPr>
            <a:r>
              <a:t>Opplæringsloven § 8-2 stiller krav til maksimal lærertetthet per trinn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2194560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B5563"/>
                </a:solidFill>
              </a:defRPr>
            </a:pPr>
            <a:r>
              <a:t>1.–4. TRINN (NORM 1:15)</a:t>
            </a:r>
          </a:p>
          <a:p>
            <a:pPr>
              <a:spcBef>
                <a:spcPts val="800"/>
              </a:spcBef>
              <a:defRPr sz="2200" b="1">
                <a:solidFill>
                  <a:srgbClr val="16A34A"/>
                </a:solidFill>
              </a:defRPr>
            </a:pPr>
            <a:r>
              <a:t>13,8 elever / lærer</a:t>
            </a:r>
          </a:p>
          <a:p>
            <a:pPr>
              <a:spcBef>
                <a:spcPts val="600"/>
              </a:spcBef>
              <a:defRPr sz="1050">
                <a:solidFill>
                  <a:srgbClr val="1F2937"/>
                </a:solidFill>
              </a:defRPr>
            </a:pPr>
            <a:r>
              <a:t>Oppfyller lærernormen (+1,2 margin)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2194560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7830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B5563"/>
                </a:solidFill>
              </a:defRPr>
            </a:pPr>
            <a:r>
              <a:t>5.–7. TRINN (NORM 1:20)</a:t>
            </a:r>
          </a:p>
          <a:p>
            <a:pPr>
              <a:spcBef>
                <a:spcPts val="800"/>
              </a:spcBef>
              <a:defRPr sz="2200" b="1">
                <a:solidFill>
                  <a:srgbClr val="16A34A"/>
                </a:solidFill>
              </a:defRPr>
            </a:pPr>
            <a:r>
              <a:t>17,9 elever / lærer</a:t>
            </a:r>
          </a:p>
          <a:p>
            <a:pPr>
              <a:spcBef>
                <a:spcPts val="600"/>
              </a:spcBef>
              <a:defRPr sz="1050">
                <a:solidFill>
                  <a:srgbClr val="1F2937"/>
                </a:solidFill>
              </a:defRPr>
            </a:pPr>
            <a:r>
              <a:t>Oppfyller lærernormen (+2,1 margin)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2194560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7830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B5563"/>
                </a:solidFill>
              </a:defRPr>
            </a:pPr>
            <a:r>
              <a:t>8.–10. TRINN (NORM 1:20)</a:t>
            </a:r>
          </a:p>
          <a:p>
            <a:pPr>
              <a:spcBef>
                <a:spcPts val="800"/>
              </a:spcBef>
              <a:defRPr sz="2200" b="1">
                <a:solidFill>
                  <a:srgbClr val="16A34A"/>
                </a:solidFill>
              </a:defRPr>
            </a:pPr>
            <a:r>
              <a:t>18,4 elever / lærer</a:t>
            </a:r>
          </a:p>
          <a:p>
            <a:pPr>
              <a:spcBef>
                <a:spcPts val="600"/>
              </a:spcBef>
              <a:defRPr sz="1050">
                <a:solidFill>
                  <a:srgbClr val="1F2937"/>
                </a:solidFill>
              </a:defRPr>
            </a:pPr>
            <a:r>
              <a:t>Oppfyller lærernormen (+1,6 margin)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114800"/>
            <a:ext cx="10698480" cy="1920240"/>
          </a:xfrm>
          <a:prstGeom prst="rect">
            <a:avLst/>
          </a:prstGeom>
          <a:solidFill>
            <a:srgbClr val="F3F4F6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Controllerens vurdering av bemanning: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• Merforbruket skyldes ikke underfinansiering av lovpålagt lærernorm, men overdreven bruk av eksterne vikarer ved korttidsfravær.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Innføring av felles vikarring gjør det mulig å opprettholde lovlig lærertetthet uten å leie inn kommersielle byråvikarer.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Kristiansand kommune | Økonomi &amp; Virksomhetsstyring  •  Audit ID: e2a8eec06bda  •  Side 5 av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Tiltakskalender: 3 operative grep kutter 170 000 kr per måned fra 1. september</a:t>
            </a:r>
          </a:p>
          <a:p>
            <a:pPr>
              <a:spcBef>
                <a:spcPts val="400"/>
              </a:spcBef>
              <a:defRPr sz="1200">
                <a:solidFill>
                  <a:srgbClr val="4B5563"/>
                </a:solidFill>
                <a:latin typeface="Arial"/>
              </a:defRPr>
            </a:pPr>
            <a:r>
              <a:t>Tidsplan og milepæler for rektorene i Vågsbygd, Grim, Tangvall og Lovisenlev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11887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E3A8A"/>
                </a:solidFill>
              </a:defRPr>
            </a:pPr>
            <a:r>
              <a:t>Fase 1: 0–30 dager (1. sept – 30. sept)</a:t>
            </a:r>
          </a:p>
          <a:p>
            <a:pPr>
              <a:spcBef>
                <a:spcPts val="300"/>
              </a:spcBef>
              <a:defRPr sz="1050">
                <a:solidFill>
                  <a:srgbClr val="1F2937"/>
                </a:solidFill>
              </a:defRPr>
            </a:pPr>
            <a:r>
              <a:t>Vikarstopp for fravær &lt; 3 dager. Etablering av felles vikarring mellom naboskoler. Ukentlig rapportering.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17520"/>
            <a:ext cx="10698480" cy="11887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6A34A"/>
                </a:solidFill>
              </a:defRPr>
            </a:pPr>
            <a:r>
              <a:t>Fase 2: 30–60 dager (1. okt – 31. okt)</a:t>
            </a:r>
          </a:p>
          <a:p>
            <a:pPr>
              <a:spcBef>
                <a:spcPts val="300"/>
              </a:spcBef>
              <a:defRPr sz="1050">
                <a:solidFill>
                  <a:srgbClr val="1F2937"/>
                </a:solidFill>
              </a:defRPr>
            </a:pPr>
            <a:r>
              <a:t>Akselerert innsending av refusjonskrav til NAV. Avstemming av konto 1600. Overtidsstopp.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10698480" cy="11887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348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E3A8A"/>
                </a:solidFill>
              </a:defRPr>
            </a:pPr>
            <a:r>
              <a:t>Fase 3: 60–90 dager (1. nov – 31. des)</a:t>
            </a:r>
          </a:p>
          <a:p>
            <a:pPr>
              <a:spcBef>
                <a:spcPts val="300"/>
              </a:spcBef>
              <a:defRPr sz="1050">
                <a:solidFill>
                  <a:srgbClr val="1F2937"/>
                </a:solidFill>
              </a:defRPr>
            </a:pPr>
            <a:r>
              <a:t>Evaluering av helårsbalanse før 3. tertialrapport. Justering av rammetildeling for budsjett 2027.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Kristiansand kommune | Økonomi &amp; Virksomhetsstyring  •  Audit ID: e2a8eec06bda  •  Side 6 av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Oppsummering: Samtlige rektorer forplikter seg til balansert helårsdrift</a:t>
            </a:r>
          </a:p>
          <a:p>
            <a:pPr>
              <a:spcBef>
                <a:spcPts val="400"/>
              </a:spcBef>
              <a:defRPr sz="1200">
                <a:solidFill>
                  <a:srgbClr val="4B5563"/>
                </a:solidFill>
                <a:latin typeface="Arial"/>
              </a:defRPr>
            </a:pPr>
            <a:r>
              <a:t>Styringskontrakt mellom Kommunalsjef Oppvekst og enhetslederne for 2. halvår 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114800"/>
          </a:xfrm>
          <a:prstGeom prst="roundRect">
            <a:avLst/>
          </a:prstGeom>
          <a:solidFill>
            <a:srgbClr val="F3F4F6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Styringsforpliktelser for skoleledelsen:</a:t>
            </a:r>
          </a:p>
          <a:p>
            <a:pPr>
              <a:spcBef>
                <a:spcPts val="1000"/>
              </a:spcBef>
              <a:defRPr sz="1150">
                <a:solidFill>
                  <a:srgbClr val="1F2937"/>
                </a:solidFill>
              </a:defRPr>
            </a:pPr>
            <a:r>
              <a:t>1. Hver rektor er personlig ansvarlig for at årsrammen ikke overskrides ved utgangen av 2026 jf. fullmaktsmatrisen.</a:t>
            </a:r>
          </a:p>
          <a:p>
            <a:pPr>
              <a:spcBef>
                <a:spcPts val="1000"/>
              </a:spcBef>
              <a:defRPr sz="1150">
                <a:solidFill>
                  <a:srgbClr val="1F2937"/>
                </a:solidFill>
              </a:defRPr>
            </a:pPr>
            <a:r>
              <a:t>2. Ekstern innleie av vikarer skal godkjennes skriftlig av kommunalsjefen dersom fraværet overstiger 5 virkedager.</a:t>
            </a:r>
          </a:p>
          <a:p>
            <a:pPr>
              <a:spcBef>
                <a:spcPts val="1000"/>
              </a:spcBef>
              <a:defRPr sz="1150">
                <a:solidFill>
                  <a:srgbClr val="1F2937"/>
                </a:solidFill>
              </a:defRPr>
            </a:pPr>
            <a:r>
              <a:t>3. Etablert vikarring mellom Grim og Vågsbygd skal prioriteres foran eksterne leverandører.</a:t>
            </a:r>
          </a:p>
          <a:p>
            <a:pPr>
              <a:spcBef>
                <a:spcPts val="1000"/>
              </a:spcBef>
              <a:defRPr sz="1150">
                <a:solidFill>
                  <a:srgbClr val="1F2937"/>
                </a:solidFill>
              </a:defRPr>
            </a:pPr>
            <a:r>
              <a:t>4. Oppdatert regnskapsprognose rapporteres i Visma EPM innen den 5. i hver måned.</a:t>
            </a:r>
          </a:p>
          <a:p>
            <a:pPr>
              <a:spcBef>
                <a:spcPts val="1400"/>
              </a:spcBef>
              <a:defRPr sz="1000" i="1">
                <a:solidFill>
                  <a:srgbClr val="4B5563"/>
                </a:solidFill>
              </a:defRPr>
            </a:pPr>
            <a:r>
              <a:t>Kristiansand, 17.10.2026  •  Kristin E. Bakke, Kommunalsjef  /  Frank Ellingsen, Senior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Kristiansand kommune | Økonomi &amp; Virksomhetsstyring  •  Audit ID: e2a8eec06bda  •  Side 7 av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