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3C5FD"/>
                </a:solidFill>
              </a:defRPr>
            </a:pPr>
            <a:r>
              <a:t>KRISTIANSAND KOMMUNE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Økonomisk Status T2 &amp; Budsjettjustering</a:t>
            </a:r>
          </a:p>
          <a:p>
            <a:pPr>
              <a:defRPr sz="1600">
                <a:solidFill>
                  <a:srgbClr val="E5E7EB"/>
                </a:solidFill>
              </a:defRPr>
            </a:pPr>
            <a:r>
              <a:t>Tiltakspakke for Oppvekstsektoren jf. Kommuneloven § 14-5</a:t>
            </a:r>
            <a:br/>
            <a:r>
              <a:t>Orientering til Bystyret og Formannskapet |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YTD AVVIKSANALYSE (T2 2026)</a:t>
            </a:r>
          </a:p>
          <a:p>
            <a:pPr>
              <a:defRPr sz="2200" b="1">
                <a:solidFill>
                  <a:srgbClr val="1F2937"/>
                </a:solidFill>
              </a:defRPr>
            </a:pPr>
            <a:r>
              <a:t>Vikarforbruk og NAV-etterslep gir et merforbruk på 3,2 mill. NOK i Oppvekst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DC2626"/>
                </a:solidFill>
              </a:defRPr>
            </a:pPr>
            <a:r>
              <a:t>YTD Merforbruk</a:t>
            </a:r>
          </a:p>
          <a:p>
            <a:pPr>
              <a:defRPr sz="3200" b="1">
                <a:solidFill>
                  <a:srgbClr val="DC2626"/>
                </a:solidFill>
              </a:defRPr>
            </a:pPr>
            <a:r>
              <a:t>+3,2 M NOK</a:t>
            </a:r>
          </a:p>
          <a:p>
            <a:pPr>
              <a:defRPr sz="1200">
                <a:solidFill>
                  <a:srgbClr val="374151"/>
                </a:solidFill>
              </a:defRPr>
            </a:pPr>
            <a:r>
              <a:t>• Vikarutgifter (art 1020): +3,2M</a:t>
            </a:r>
            <a:br/>
            <a:r>
              <a:t>• Overtid (art 1090): +0,4M</a:t>
            </a:r>
            <a:br/>
            <a:r>
              <a:t>• Konsulentinnsparing: -0,6M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F3F4F6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E3A8A"/>
                </a:solidFill>
              </a:defRPr>
            </a:pPr>
            <a:r>
              <a:t>Årsaksdiagnose (RAG)</a:t>
            </a:r>
          </a:p>
          <a:p>
            <a:pPr>
              <a:defRPr sz="2800" b="1">
                <a:solidFill>
                  <a:srgbClr val="1E3A8A"/>
                </a:solidFill>
              </a:defRPr>
            </a:pPr>
            <a:r>
              <a:t>Sykefravær &amp; NAV</a:t>
            </a:r>
          </a:p>
          <a:p>
            <a:pPr>
              <a:defRPr sz="1200">
                <a:solidFill>
                  <a:srgbClr val="374151"/>
                </a:solidFill>
              </a:defRPr>
            </a:pPr>
            <a:r>
              <a:t>• Ekstraordinært korttidsfravær i Q2.</a:t>
            </a:r>
            <a:br/>
            <a:r>
              <a:t>• 850k NOK i forsinkede NAV-refusjoner (art 1600).</a:t>
            </a:r>
            <a:br/>
            <a:r>
              <a:t>• Strukturelt vikarbehov ved store enheter.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DC2626"/>
                </a:solidFill>
              </a:defRPr>
            </a:pPr>
            <a:r>
              <a:t>Prognose (Uten Tiltak)</a:t>
            </a:r>
          </a:p>
          <a:p>
            <a:pPr>
              <a:defRPr sz="3200" b="1">
                <a:solidFill>
                  <a:srgbClr val="DC2626"/>
                </a:solidFill>
              </a:defRPr>
            </a:pPr>
            <a:r>
              <a:t>+4,8 M NOK</a:t>
            </a:r>
          </a:p>
          <a:p>
            <a:pPr>
              <a:defRPr sz="1200">
                <a:solidFill>
                  <a:srgbClr val="374151"/>
                </a:solidFill>
              </a:defRPr>
            </a:pPr>
            <a:r>
              <a:t>Utfordrer kravet til budsjettbalanse jf. Kommuneloven § 14-5. Utløser utredningsplikt for tiltakspakke.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HANDLINGSPLAN OG EFFEKTPROGNOSE</a:t>
            </a:r>
          </a:p>
          <a:p>
            <a:pPr>
              <a:defRPr sz="2200" b="1">
                <a:solidFill>
                  <a:srgbClr val="1F2937"/>
                </a:solidFill>
              </a:defRPr>
            </a:pPr>
            <a:r>
              <a:t>Godkjent tiltakspakke bringer helårsprognosen (EOY) i fullstendig balanse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499055"/>
                <a:gridCol w="2743200"/>
              </a:tblGrid>
              <a:tr h="7680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Tiltak / Action Item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Gjennomføring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Innsparingseffekt (EOY)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Felles vikarring på tvers av grunnskoler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Strakstiltak (0-30 dgr)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A34A"/>
                          </a:solidFill>
                        </a:defRPr>
                      </a:pPr>
                      <a:r>
                        <a:t>1 400 000 NOK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Innkjøpsstopp på ekstern konsulentbistand (art 1270)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Strakstiltak (0-30 dgr)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A34A"/>
                          </a:solidFill>
                        </a:defRPr>
                      </a:pPr>
                      <a:r>
                        <a:t>750 000 NOK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Automatisert purring og oppfølging av NAV-refusjoner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Fortløpende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A34A"/>
                          </a:solidFill>
                        </a:defRPr>
                      </a:pPr>
                      <a:r>
                        <a:t>750 000 NOK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Inndragning av overtid og ekstrahjelp (art 1090)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30-90 dager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A34A"/>
                          </a:solidFill>
                        </a:defRPr>
                      </a:pPr>
                      <a:r>
                        <a:t>300 000 NOK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KOMMUNEDIREKTØRENS INNSTILLING OG SIGNATUR</a:t>
            </a:r>
          </a:p>
          <a:p>
            <a:pPr>
              <a:defRPr sz="2200" b="1">
                <a:solidFill>
                  <a:srgbClr val="1F2937"/>
                </a:solidFill>
              </a:defRPr>
            </a:pPr>
            <a:r>
              <a:t>Forslag til vedtak i Bystyret og Formannskapet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0728655" cy="3840480"/>
          </a:xfrm>
          <a:prstGeom prst="roundRect">
            <a:avLst/>
          </a:prstGeom>
          <a:solidFill>
            <a:srgbClr val="F3F4F6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VEDTAKSFORSLAG: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1. Bystyret godkjenner fremlagte tiltakspakke på 3,2 mill. NOK for Oppvekstsektoren.</a:t>
            </a:r>
            <a:br/>
            <a:r>
              <a:t>2. Årsbudsjettet 2026 justeres ved at 1,8 mill. NOK omdisponeres fra udisponert reserve, og 1,4 mill. NOK innspares gjennom felles vikarring og konsulentstopp.</a:t>
            </a:r>
            <a:br/>
            <a:r>
              <a:t>3. Kommunedirektøren bes rapportere på korrigert EOY-prognosebane i 3. tertialrapport.</a:t>
            </a:r>
          </a:p>
          <a:p>
            <a:br/>
            <a:pPr>
              <a:defRPr sz="1000" b="1">
                <a:solidFill>
                  <a:srgbClr val="6B7280"/>
                </a:solidFill>
              </a:defRPr>
            </a:pPr>
            <a:r>
              <a:t>🔒 SHA-256 KRYPTOGRAFISK REVISJONSSTEMPEL (Stage-Gate Port 9):</a:t>
            </a:r>
            <a:br/>
            <a:r>
              <a:t>71cb800c12e3fa007f9cd213a2288124d25486f60361993ef074f11feb032036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