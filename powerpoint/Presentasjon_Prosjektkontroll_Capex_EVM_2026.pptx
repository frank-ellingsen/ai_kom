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93C5FD"/>
                </a:solidFill>
              </a:defRPr>
            </a:pPr>
            <a:r>
              <a:t>KRISTIANSAND KOMMUNE  •  KONTROLLUTVALGET &amp; BYUTVIKLING</a:t>
            </a:r>
          </a:p>
          <a:p>
            <a:pPr>
              <a:spcBef>
                <a:spcPts val="1200"/>
              </a:spcBef>
              <a:defRPr sz="2800" b="1">
                <a:solidFill>
                  <a:srgbClr val="FFFFFF"/>
                </a:solidFill>
              </a:defRPr>
            </a:pPr>
            <a:r>
              <a:t>Prosjektkontroll &amp; Capex Status: Investeringsportefølje &amp; EVM 2026</a:t>
            </a:r>
          </a:p>
          <a:p>
            <a:pPr>
              <a:spcBef>
                <a:spcPts val="800"/>
              </a:spcBef>
              <a:defRPr sz="1500">
                <a:solidFill>
                  <a:srgbClr val="E0E7FF"/>
                </a:solidFill>
              </a:defRPr>
            </a:pPr>
            <a:r>
              <a:t>Investeringstilsyn jf. ISO 21508 EVM, KS2-Kvalitetssikring &amp; Kommuneloven § 14-4</a:t>
            </a:r>
          </a:p>
          <a:p>
            <a:pPr>
              <a:spcBef>
                <a:spcPts val="2800"/>
              </a:spcBef>
              <a:defRPr sz="1150">
                <a:solidFill>
                  <a:srgbClr val="BFDBFE"/>
                </a:solidFill>
              </a:defRPr>
            </a:pPr>
            <a:r>
              <a:t>Dato: 17.10.2026  •  Frank Ellingsen, Project Controller &amp; BI-Spesialist</a:t>
            </a:r>
          </a:p>
          <a:p>
            <a:pPr>
              <a:spcBef>
                <a:spcPts val="400"/>
              </a:spcBef>
              <a:defRPr sz="950">
                <a:solidFill>
                  <a:srgbClr val="93C5FD"/>
                </a:solidFill>
              </a:defRPr>
            </a:pPr>
            <a:r>
              <a:t>Audit Stempel: e7d1fe487362395a04ced420...  |  Portefølje-EVM Avstemt per 31.08.2026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Arial"/>
              </a:defRPr>
            </a:pPr>
            <a:r>
              <a:t>Porteføljestatus: Portefølje-CPI på 0,893 indikerer sluttoverskridelse på 80,4 Mkr</a:t>
            </a:r>
          </a:p>
          <a:p>
            <a:pPr>
              <a:spcBef>
                <a:spcPts val="400"/>
              </a:spcBef>
              <a:defRPr sz="1200">
                <a:solidFill>
                  <a:srgbClr val="4B5563"/>
                </a:solidFill>
                <a:latin typeface="Arial"/>
              </a:defRPr>
            </a:pPr>
            <a:r>
              <a:t>Earned Value Management (ISO 21508) for 517 Mkr portefølje: Vågsbygd Skole, Randesund og VA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2286000"/>
          </a:xfrm>
          <a:prstGeom prst="round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B5563"/>
                </a:solidFill>
              </a:defRPr>
            </a:pPr>
            <a:r>
              <a:t>KOSTNADSINDEKS (CPI)</a:t>
            </a:r>
          </a:p>
          <a:p>
            <a:pPr>
              <a:spcBef>
                <a:spcPts val="800"/>
              </a:spcBef>
              <a:defRPr sz="2400" b="1">
                <a:solidFill>
                  <a:srgbClr val="DC2626"/>
                </a:solidFill>
              </a:defRPr>
            </a:pPr>
            <a:r>
              <a:t>0,893</a:t>
            </a:r>
          </a:p>
          <a:p>
            <a:pPr>
              <a:spcBef>
                <a:spcPts val="600"/>
              </a:spcBef>
              <a:defRPr sz="1050">
                <a:solidFill>
                  <a:srgbClr val="1F2937"/>
                </a:solidFill>
              </a:defRPr>
            </a:pPr>
            <a:r>
              <a:t>Påløpt (AC): 292,9M  vs.  Opptjent (EV): 262,9M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2286000"/>
          </a:xfrm>
          <a:prstGeom prst="round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B5563"/>
                </a:solidFill>
              </a:defRPr>
            </a:pPr>
            <a:r>
              <a:t>FREMDRIFTSINDEKS (SPI)</a:t>
            </a:r>
          </a:p>
          <a:p>
            <a:pPr>
              <a:spcBef>
                <a:spcPts val="800"/>
              </a:spcBef>
              <a:defRPr sz="2400" b="1">
                <a:solidFill>
                  <a:srgbClr val="1E3A8A"/>
                </a:solidFill>
              </a:defRPr>
            </a:pPr>
            <a:r>
              <a:t>0,935</a:t>
            </a:r>
          </a:p>
          <a:p>
            <a:pPr>
              <a:spcBef>
                <a:spcPts val="600"/>
              </a:spcBef>
              <a:defRPr sz="1050">
                <a:solidFill>
                  <a:srgbClr val="1F2937"/>
                </a:solidFill>
              </a:defRPr>
            </a:pPr>
            <a:r>
              <a:t>Planlagt (PV): 281,2M  vs.  Opptjent (EV): 262,9M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2286000"/>
          </a:xfrm>
          <a:prstGeom prst="round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B5563"/>
                </a:solidFill>
              </a:defRPr>
            </a:pPr>
            <a:r>
              <a:t>SLUTTPROGNOSE (EAC)</a:t>
            </a:r>
          </a:p>
          <a:p>
            <a:pPr>
              <a:spcBef>
                <a:spcPts val="800"/>
              </a:spcBef>
              <a:defRPr sz="2400" b="1">
                <a:solidFill>
                  <a:srgbClr val="DC2626"/>
                </a:solidFill>
              </a:defRPr>
            </a:pPr>
            <a:r>
              <a:t>597,4 Mkr</a:t>
            </a:r>
          </a:p>
          <a:p>
            <a:pPr>
              <a:spcBef>
                <a:spcPts val="600"/>
              </a:spcBef>
              <a:defRPr sz="1050">
                <a:solidFill>
                  <a:srgbClr val="1F2937"/>
                </a:solidFill>
              </a:defRPr>
            </a:pPr>
            <a:r>
              <a:t>Sluttoverskridelse (VAC): -80,4 Mkr mot BAC 517M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10698480" cy="1737360"/>
          </a:xfrm>
          <a:prstGeom prst="rect">
            <a:avLst/>
          </a:prstGeom>
          <a:solidFill>
            <a:srgbClr val="F3F4F6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Sentrale funn fra investeringstilsynet: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• Randesund Boenhet (PROJ-201) har et kritisk kostnadsavvik med CPI på 0,843 som følge av krevende grunnforhold og stålprisvekst.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VA Hovedledning (PROJ-301) leverer foran plan med CPI 1,027 og genererer kr 2,3M i forventet mindreforbruk.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  <a:latin typeface="Arial"/>
              </a:defRPr>
            </a:pPr>
            <a:r>
              <a:t>Kristiansand kommune | Økonomi &amp; Virksomhetsstyring  •  Audit ID: e7d1fe487362  •  Side 2 av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Arial"/>
              </a:defRPr>
            </a:pPr>
            <a:r>
              <a:t>Prosjektoversikt: Randesund Boenhet og Vågsbygd Skole driver kostnadsavviket</a:t>
            </a:r>
          </a:p>
          <a:p>
            <a:pPr>
              <a:spcBef>
                <a:spcPts val="400"/>
              </a:spcBef>
              <a:defRPr sz="1200">
                <a:solidFill>
                  <a:srgbClr val="4B5563"/>
                </a:solidFill>
                <a:latin typeface="Arial"/>
              </a:defRPr>
            </a:pPr>
            <a:r>
              <a:t>EVM statusavstemming per 31.08.2026 i henhold til ISO 21508 standarden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645920"/>
                <a:gridCol w="1554480"/>
                <a:gridCol w="1554480"/>
                <a:gridCol w="1371600"/>
                <a:gridCol w="1645920"/>
              </a:tblGrid>
              <a:tr h="658368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Prosjekt / Investering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Vedtatt Ramme (BAC)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Påløpt (AC)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Opptjent (EV)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CPI Indeks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Sluttprognose (EAC)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Vågsbygd Skole (PROJ-101)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185 000 000 kr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104 500 000 kr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95 000 000 kr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DC2626"/>
                          </a:solidFill>
                        </a:defRPr>
                      </a:pPr>
                      <a:r>
                        <a:t>0,909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DC2626"/>
                          </a:solidFill>
                        </a:defRPr>
                      </a:pPr>
                      <a:r>
                        <a:t>208 251 070 kr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Randesund Boenhet (PROJ-201)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240 000 000 kr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139 100 000 kr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117 300 000 kr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DC2626"/>
                          </a:solidFill>
                        </a:defRPr>
                      </a:pPr>
                      <a:r>
                        <a:t>0,843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DC2626"/>
                          </a:solidFill>
                        </a:defRPr>
                      </a:pPr>
                      <a:r>
                        <a:t>299 529 558 kr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VA Hovedledning (PROJ-301)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92 000 000 kr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49 300 000 kr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50 600 000 kr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6A34A"/>
                          </a:solidFill>
                        </a:defRPr>
                      </a:pPr>
                      <a:r>
                        <a:t>1,027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6A34A"/>
                          </a:solidFill>
                        </a:defRPr>
                      </a:pPr>
                      <a:r>
                        <a:t>89 668 168 kr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defRPr sz="1000" b="1"/>
                      </a:pPr>
                      <a:r>
                        <a:t>SUM PORTEFØLJE CAPEX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/>
                      </a:pPr>
                      <a:r>
                        <a:t>517 000 000 kr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/>
                      </a:pPr>
                      <a:r>
                        <a:t>292 900 000 kr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/>
                      </a:pPr>
                      <a:r>
                        <a:t>262 900 000 kr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DC2626"/>
                          </a:solidFill>
                        </a:defRPr>
                      </a:pPr>
                      <a:r>
                        <a:t>0,893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DC2626"/>
                          </a:solidFill>
                        </a:defRPr>
                      </a:pPr>
                      <a:r>
                        <a:t>597 448 796 kr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  <a:latin typeface="Arial"/>
              </a:defRPr>
            </a:pPr>
            <a:r>
              <a:t>Kristiansand kommune | Økonomi &amp; Virksomhetsstyring  •  Audit ID: e7d1fe487362  •  Side 3 av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Arial"/>
              </a:defRPr>
            </a:pPr>
            <a:r>
              <a:t>S-Kurve Analyse: Avviksgapet mellom kostnad (AC) og verdi (EV) eskalerte i Q2</a:t>
            </a:r>
          </a:p>
          <a:p>
            <a:pPr>
              <a:spcBef>
                <a:spcPts val="400"/>
              </a:spcBef>
              <a:defRPr sz="1200">
                <a:solidFill>
                  <a:srgbClr val="4B5563"/>
                </a:solidFill>
                <a:latin typeface="Arial"/>
              </a:defRPr>
            </a:pPr>
            <a:r>
              <a:t>Kumulativ verdiskaping mot påløpte kostnader over prosjektets tidsakse 2025–2027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1920240"/>
          </a:xfrm>
          <a:prstGeom prst="roundRect">
            <a:avLst/>
          </a:prstGeom>
          <a:solidFill>
            <a:srgbClr val="FAFAFA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PLANLAGT VERDI (PV)</a:t>
            </a:r>
          </a:p>
          <a:p>
            <a:pPr>
              <a:spcBef>
                <a:spcPts val="300"/>
              </a:spcBef>
              <a:defRPr sz="1400" b="1">
                <a:solidFill>
                  <a:srgbClr val="1E3A8A"/>
                </a:solidFill>
              </a:defRPr>
            </a:pPr>
            <a:r>
              <a:t>281,2 mill. kr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</a:defRPr>
            </a:pPr>
            <a:r>
              <a:t>Den opprinnelige baseline-fremdriftskurven godkjent i KS2.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1920240"/>
          </a:xfrm>
          <a:prstGeom prst="roundRect">
            <a:avLst/>
          </a:prstGeom>
          <a:solidFill>
            <a:srgbClr val="FAFAFA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78308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OPPTJENT VERDI (EV)</a:t>
            </a:r>
          </a:p>
          <a:p>
            <a:pPr>
              <a:spcBef>
                <a:spcPts val="300"/>
              </a:spcBef>
              <a:defRPr sz="1400" b="1">
                <a:solidFill>
                  <a:srgbClr val="16A34A"/>
                </a:solidFill>
              </a:defRPr>
            </a:pPr>
            <a:r>
              <a:t>262,9 mill. kr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</a:defRPr>
            </a:pPr>
            <a:r>
              <a:t>Fysisk ferdigstilt arbeid godkjent av byggherrens byggeleder.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49039"/>
            <a:ext cx="5212080" cy="1920240"/>
          </a:xfrm>
          <a:prstGeom prst="roundRect">
            <a:avLst/>
          </a:prstGeom>
          <a:solidFill>
            <a:srgbClr val="FAFAFA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86199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PÅLØPT KOSTNAD (AC)</a:t>
            </a:r>
          </a:p>
          <a:p>
            <a:pPr>
              <a:spcBef>
                <a:spcPts val="300"/>
              </a:spcBef>
              <a:defRPr sz="1400" b="1">
                <a:solidFill>
                  <a:srgbClr val="DC2626"/>
                </a:solidFill>
              </a:defRPr>
            </a:pPr>
            <a:r>
              <a:t>292,9 mill. kr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</a:defRPr>
            </a:pPr>
            <a:r>
              <a:t>Bokførte entreprenørfakturaer og materialkjøp i regnskapet.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749039"/>
            <a:ext cx="5212080" cy="1920240"/>
          </a:xfrm>
          <a:prstGeom prst="roundRect">
            <a:avLst/>
          </a:prstGeom>
          <a:solidFill>
            <a:srgbClr val="FAFAFA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886199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KOSTNADSAVVIK (CV)</a:t>
            </a:r>
          </a:p>
          <a:p>
            <a:pPr>
              <a:spcBef>
                <a:spcPts val="300"/>
              </a:spcBef>
              <a:defRPr sz="1400" b="1">
                <a:solidFill>
                  <a:srgbClr val="DC2626"/>
                </a:solidFill>
              </a:defRPr>
            </a:pPr>
            <a:r>
              <a:t>-30,0 mill. kr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</a:defRPr>
            </a:pPr>
            <a:r>
              <a:t>Akkumulert overforbruk som krever inndekning via usikkerhetsreserve.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  <a:latin typeface="Arial"/>
              </a:defRPr>
            </a:pPr>
            <a:r>
              <a:t>Kristiansand kommune | Økonomi &amp; Virksomhetsstyring  •  Audit ID: e7d1fe487362  •  Side 4 av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Arial"/>
              </a:defRPr>
            </a:pPr>
            <a:r>
              <a:t>Usikkerhetsstyring: Sluttoverskridelsen dekkes delvis av P85-usikkerhetsreserven</a:t>
            </a:r>
          </a:p>
          <a:p>
            <a:pPr>
              <a:spcBef>
                <a:spcPts val="400"/>
              </a:spcBef>
              <a:defRPr sz="1200">
                <a:solidFill>
                  <a:srgbClr val="4B5563"/>
                </a:solidFill>
                <a:latin typeface="Arial"/>
              </a:defRPr>
            </a:pPr>
            <a:r>
              <a:t>Kvalitativ og kvantitativ risikovurdering for prosjektporteføljen jf. KS2-krav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2194560"/>
          </a:xfrm>
          <a:prstGeom prst="round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B5563"/>
                </a:solidFill>
              </a:defRPr>
            </a:pPr>
            <a:r>
              <a:t>BASISESTIMAT (P50)</a:t>
            </a:r>
          </a:p>
          <a:p>
            <a:pPr>
              <a:spcBef>
                <a:spcPts val="800"/>
              </a:spcBef>
              <a:defRPr sz="2400" b="1">
                <a:solidFill>
                  <a:srgbClr val="1E3A8A"/>
                </a:solidFill>
              </a:defRPr>
            </a:pPr>
            <a:r>
              <a:t>465,0 Mkr</a:t>
            </a:r>
          </a:p>
          <a:p>
            <a:pPr>
              <a:spcBef>
                <a:spcPts val="600"/>
              </a:spcBef>
              <a:defRPr sz="1050">
                <a:solidFill>
                  <a:srgbClr val="1F2937"/>
                </a:solidFill>
              </a:defRPr>
            </a:pPr>
            <a:r>
              <a:t>Prosjektleders forventede produksjonskostnad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2194560"/>
          </a:xfrm>
          <a:prstGeom prst="round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78308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B5563"/>
                </a:solidFill>
              </a:defRPr>
            </a:pPr>
            <a:r>
              <a:t>USIKKERHETSAVSETNING (P85)</a:t>
            </a:r>
          </a:p>
          <a:p>
            <a:pPr>
              <a:spcBef>
                <a:spcPts val="800"/>
              </a:spcBef>
              <a:defRPr sz="2400" b="1">
                <a:solidFill>
                  <a:srgbClr val="16A34A"/>
                </a:solidFill>
              </a:defRPr>
            </a:pPr>
            <a:r>
              <a:t>52,0 Mkr</a:t>
            </a:r>
          </a:p>
          <a:p>
            <a:pPr>
              <a:spcBef>
                <a:spcPts val="600"/>
              </a:spcBef>
              <a:defRPr sz="1050">
                <a:solidFill>
                  <a:srgbClr val="1F2937"/>
                </a:solidFill>
              </a:defRPr>
            </a:pPr>
            <a:r>
              <a:t>Vedtatt buffer for uforutsette grunnforhold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2194560"/>
          </a:xfrm>
          <a:prstGeom prst="round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78308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B5563"/>
                </a:solidFill>
              </a:defRPr>
            </a:pPr>
            <a:r>
              <a:t>GJENSTÅENDE RESERVE</a:t>
            </a:r>
          </a:p>
          <a:p>
            <a:pPr>
              <a:spcBef>
                <a:spcPts val="800"/>
              </a:spcBef>
              <a:defRPr sz="2400" b="1">
                <a:solidFill>
                  <a:srgbClr val="DC2626"/>
                </a:solidFill>
              </a:defRPr>
            </a:pPr>
            <a:r>
              <a:t>22,0 Mkr</a:t>
            </a:r>
          </a:p>
          <a:p>
            <a:pPr>
              <a:spcBef>
                <a:spcPts val="600"/>
              </a:spcBef>
              <a:defRPr sz="1050">
                <a:solidFill>
                  <a:srgbClr val="1F2937"/>
                </a:solidFill>
              </a:defRPr>
            </a:pPr>
            <a:r>
              <a:t>Kr 30,0M allerede bundet opp i endringsordrer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114800"/>
            <a:ext cx="10698480" cy="1920240"/>
          </a:xfrm>
          <a:prstGeom prst="rect">
            <a:avLst/>
          </a:prstGeom>
          <a:solidFill>
            <a:srgbClr val="F3F4F6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Risiko- og tiltaksvurdering for Kontrollutvalget: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• Det gjenstår kun 22 Mkr av P85-avsetningen. Dersom CPI på Randesund Boenhet ikke forbedres, vil kostnadsrammen sprekke med 28 Mkr.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Anbefaling: Etablere frys på opsjonsbestillinger og reforhandle kontraktspakker med totalentreprenør for trinn 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  <a:latin typeface="Arial"/>
              </a:defRPr>
            </a:pPr>
            <a:r>
              <a:t>Kristiansand kommune | Økonomi &amp; Virksomhetsstyring  •  Audit ID: e7d1fe487362  •  Side 5 av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Arial"/>
              </a:defRPr>
            </a:pPr>
            <a:r>
              <a:t>Sluttprognoser (EAC): Tre scenarioer for resterende produksjonskostnad (ETC)</a:t>
            </a:r>
          </a:p>
          <a:p>
            <a:pPr>
              <a:spcBef>
                <a:spcPts val="400"/>
              </a:spcBef>
              <a:defRPr sz="1200">
                <a:solidFill>
                  <a:srgbClr val="4B5563"/>
                </a:solidFill>
                <a:latin typeface="Arial"/>
              </a:defRPr>
            </a:pPr>
            <a:r>
              <a:t>Fremskrivning av sluttkostnad basert på historisk ytelse og korrigerende tiltak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118872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C2626"/>
                </a:solidFill>
              </a:defRPr>
            </a:pPr>
            <a:r>
              <a:t>Scenario 1: Uendret Ytelse (CPI = 0,893)  ───  EAC 597,4 Mkr (Overskridelse 80,4 Mkr)</a:t>
            </a:r>
          </a:p>
          <a:p>
            <a:pPr>
              <a:spcBef>
                <a:spcPts val="300"/>
              </a:spcBef>
              <a:defRPr sz="1050">
                <a:solidFill>
                  <a:srgbClr val="1F2937"/>
                </a:solidFill>
              </a:defRPr>
            </a:pPr>
            <a:r>
              <a:t>Fortsetter dagens avvikstakt uten inngripen. Krever tilleggsbevilgning i Bystyret.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017520"/>
            <a:ext cx="10698480" cy="118872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6A34A"/>
                </a:solidFill>
              </a:defRPr>
            </a:pPr>
            <a:r>
              <a:t>Scenario 2: Normalisert Ytelse (CPI = 1,0 på ETC)  ───  EAC 547,0 Mkr (Overskridelse 30,0 Mkr)</a:t>
            </a:r>
          </a:p>
          <a:p>
            <a:pPr>
              <a:spcBef>
                <a:spcPts val="300"/>
              </a:spcBef>
              <a:defRPr sz="1050">
                <a:solidFill>
                  <a:srgbClr val="1F2937"/>
                </a:solidFill>
              </a:defRPr>
            </a:pPr>
            <a:r>
              <a:t>Resterende arbeid leveres på budsjett. Overskridelsen dekkes i sin helhet av P85-reserven.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89120"/>
            <a:ext cx="10698480" cy="118872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43484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C2626"/>
                </a:solidFill>
              </a:defRPr>
            </a:pPr>
            <a:r>
              <a:t>Scenario 3: Kritisk Eskalering (CPI = 0,80)  ───  EAC 634,5 Mkr (Overskridelse 117,5 Mkr)</a:t>
            </a:r>
          </a:p>
          <a:p>
            <a:pPr>
              <a:spcBef>
                <a:spcPts val="300"/>
              </a:spcBef>
              <a:defRPr sz="1050">
                <a:solidFill>
                  <a:srgbClr val="1F2937"/>
                </a:solidFill>
              </a:defRPr>
            </a:pPr>
            <a:r>
              <a:t>Stresstest med ytterligere geotekniske forsinkelser og entreprenørtvister.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  <a:latin typeface="Arial"/>
              </a:defRPr>
            </a:pPr>
            <a:r>
              <a:t>Kristiansand kommune | Økonomi &amp; Virksomhetsstyring  •  Audit ID: e7d1fe487362  •  Side 6 av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Arial"/>
              </a:defRPr>
            </a:pPr>
            <a:r>
              <a:t>Oppsummering &amp; Controllerens Anbefalinger til Kontrollutvalget</a:t>
            </a:r>
          </a:p>
          <a:p>
            <a:pPr>
              <a:spcBef>
                <a:spcPts val="400"/>
              </a:spcBef>
              <a:defRPr sz="1200">
                <a:solidFill>
                  <a:srgbClr val="4B5563"/>
                </a:solidFill>
                <a:latin typeface="Arial"/>
              </a:defRPr>
            </a:pPr>
            <a:r>
              <a:t>Operative tiltak for Capex-styring og gjenetablering av kostnadskontroll jf. ISO 21508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4114800"/>
          </a:xfrm>
          <a:prstGeom prst="roundRect">
            <a:avLst/>
          </a:prstGeom>
          <a:solidFill>
            <a:srgbClr val="F3F4F6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Project Controllerens 4 tiltaksanbefalinger:</a:t>
            </a:r>
          </a:p>
          <a:p>
            <a:pPr>
              <a:spcBef>
                <a:spcPts val="1000"/>
              </a:spcBef>
              <a:defRPr sz="1150">
                <a:solidFill>
                  <a:srgbClr val="1F2937"/>
                </a:solidFill>
              </a:defRPr>
            </a:pPr>
            <a:r>
              <a:t>1. Innføre ukentlig Change Control Board (CCB) for å stanse uautoriserte endringsordrer på Randesund Boenhet.</a:t>
            </a:r>
          </a:p>
          <a:p>
            <a:pPr>
              <a:spcBef>
                <a:spcPts val="1000"/>
              </a:spcBef>
              <a:defRPr sz="1150">
                <a:solidFill>
                  <a:srgbClr val="1F2937"/>
                </a:solidFill>
              </a:defRPr>
            </a:pPr>
            <a:r>
              <a:t>2. Fryse alle ikke-kritiske opsjoner på Vågsbygd Skole inntil CPI er gjenetablert over 0,950.</a:t>
            </a:r>
          </a:p>
          <a:p>
            <a:pPr>
              <a:spcBef>
                <a:spcPts val="1000"/>
              </a:spcBef>
              <a:defRPr sz="1150">
                <a:solidFill>
                  <a:srgbClr val="1F2937"/>
                </a:solidFill>
              </a:defRPr>
            </a:pPr>
            <a:r>
              <a:t>3. Frigjøre kr 22 000 000 fra P85-usikkerhetsavsetningen til inndekning av verifiserte grunnarbeidskostnader.</a:t>
            </a:r>
          </a:p>
          <a:p>
            <a:pPr>
              <a:spcBef>
                <a:spcPts val="1000"/>
              </a:spcBef>
              <a:defRPr sz="1150">
                <a:solidFill>
                  <a:srgbClr val="1F2937"/>
                </a:solidFill>
              </a:defRPr>
            </a:pPr>
            <a:r>
              <a:t>4. Gjennomføre en uavhengig KS2-etterkontroll før oppstart av byggetrinn 2 for å sikre overholdelse av kostnadsrammen.</a:t>
            </a:r>
          </a:p>
          <a:p>
            <a:pPr>
              <a:spcBef>
                <a:spcPts val="1400"/>
              </a:spcBef>
              <a:defRPr sz="1000" i="1">
                <a:solidFill>
                  <a:srgbClr val="4B5563"/>
                </a:solidFill>
              </a:defRPr>
            </a:pPr>
            <a:r>
              <a:t>Kristiansand, 17.10.2026  •  Frank Ellingsen, Project Controller &amp; BI-Spesialist (Attestert Stage-Gate Port 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  <a:latin typeface="Arial"/>
              </a:defRPr>
            </a:pPr>
            <a:r>
              <a:t>Kristiansand kommune | Økonomi &amp; Virksomhetsstyring  •  Audit ID: e7d1fe487362  •  Side 7 av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