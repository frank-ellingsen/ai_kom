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3C5FD"/>
                </a:solidFill>
                <a:latin typeface="Arial"/>
              </a:defRPr>
            </a:pPr>
            <a:r>
              <a:t>KRISTIANSAND KOMMUNE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Økonomisk Status &amp; 2. Tertialrapport 2026</a:t>
            </a:r>
          </a:p>
          <a:p>
            <a:pPr>
              <a:spcBef>
                <a:spcPts val="800"/>
              </a:spcBef>
              <a:defRPr sz="1800">
                <a:solidFill>
                  <a:srgbClr val="F3F4F6"/>
                </a:solidFill>
                <a:latin typeface="Arial"/>
              </a:defRPr>
            </a:pPr>
            <a:r>
              <a:t>Avviksanalyse, Tiltakspakke og Helårsprognose (EOY) for Enhet 202 Grunnskole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FDBFE"/>
                </a:solidFill>
              </a:defRPr>
            </a:pPr>
            <a:r>
              <a:t>Saksbehandler: Frank Ellingsen, Senior Controller  |  Møte: Bystyret / Formannskapet  |  Dato: 14.10.2026</a:t>
            </a:r>
          </a:p>
          <a:p>
            <a:pPr>
              <a:spcBef>
                <a:spcPts val="400"/>
              </a:spcBef>
              <a:defRPr sz="1000">
                <a:solidFill>
                  <a:srgbClr val="93C5FD"/>
                </a:solidFill>
              </a:defRPr>
            </a:pPr>
            <a:r>
              <a:t>Kommune-Audit Stempel (SHA-256): c31a19ca155fb2d0bc474c9e...  |  Hjemmel: Kommuneloven § 14-5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Hovedbudskap: Merforbruk i Grunnskolen isolert – Tiltak sikrer balanse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Executive Summary: YTD avvik krever justering, men handlingsplan reduserer helårsbelastningen til kr 350 000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YTD MERFORBRUK</a:t>
            </a:r>
          </a:p>
          <a:p>
            <a:pPr>
              <a:spcBef>
                <a:spcPts val="1000"/>
              </a:spcBef>
              <a:defRPr sz="2800" b="1">
                <a:solidFill>
                  <a:srgbClr val="DC2626"/>
                </a:solidFill>
              </a:defRPr>
            </a:pPr>
            <a:r>
              <a:t>+850 000 kr</a:t>
            </a:r>
          </a:p>
          <a:p>
            <a:pPr>
              <a:spcBef>
                <a:spcPts val="800"/>
              </a:spcBef>
              <a:defRPr sz="1100">
                <a:solidFill>
                  <a:srgbClr val="1F2937"/>
                </a:solidFill>
              </a:defRPr>
            </a:pPr>
            <a:r>
              <a:t>+12,4 % over budsjettramme 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HOVEDÅRSAK VIKAR</a:t>
            </a:r>
          </a:p>
          <a:p>
            <a:pPr>
              <a:spcBef>
                <a:spcPts val="1000"/>
              </a:spcBef>
              <a:defRPr sz="2800" b="1">
                <a:solidFill>
                  <a:srgbClr val="1E3A8A"/>
                </a:solidFill>
              </a:defRPr>
            </a:pPr>
            <a:r>
              <a:t>620 000 kr</a:t>
            </a:r>
          </a:p>
          <a:p>
            <a:pPr>
              <a:spcBef>
                <a:spcPts val="800"/>
              </a:spcBef>
              <a:defRPr sz="1100">
                <a:solidFill>
                  <a:srgbClr val="1F2937"/>
                </a:solidFill>
              </a:defRPr>
            </a:pPr>
            <a:r>
              <a:t>Konto 1020 (14,2 % sesongsykefravær)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FORVENTET EOY BALANSE</a:t>
            </a:r>
          </a:p>
          <a:p>
            <a:pPr>
              <a:spcBef>
                <a:spcPts val="1000"/>
              </a:spcBef>
              <a:defRPr sz="2800" b="1">
                <a:solidFill>
                  <a:srgbClr val="16A34A"/>
                </a:solidFill>
              </a:defRPr>
            </a:pPr>
            <a:r>
              <a:t>+350 000 kr</a:t>
            </a:r>
          </a:p>
          <a:p>
            <a:pPr>
              <a:spcBef>
                <a:spcPts val="800"/>
              </a:spcBef>
              <a:defRPr sz="1100">
                <a:solidFill>
                  <a:srgbClr val="1F2937"/>
                </a:solidFill>
              </a:defRPr>
            </a:pPr>
            <a:r>
              <a:t>Dekkes inn via omstillingsfond (§ 14-5)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10698480" cy="164592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Viktigste observasjoner for Kommunedirektøren og Bystyret: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Avviket er konsentrert til Enhet 202 Grunnskole – øvrige skoler i Kristiansand leverer innenfor tildelt budsjettramme.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Refusjonsetterslep fra NAV (konto 1600) på kr 180 000 vil reverseres i Q3 etter oversendelse av samlekrav.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Med iverksatte tiltak fra 1. august holdes samlet årsresultat innenfor rammene av Kommuneloven § 14-5.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c31a19ca155f  •  Side 2 av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YTD Avviksstatus: Enhet 202 har 12,4 % merforbruk per 30.06.2026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Regnskap mot periodisert ramme iht. KOSTRA-artsfordeling i Visma Enterprise ERP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828800"/>
                <a:gridCol w="1828800"/>
                <a:gridCol w="1828800"/>
                <a:gridCol w="1737360"/>
              </a:tblGrid>
              <a:tr h="5852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Kontoart / Beskrivelse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Budsjett Q2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Faktisk Q2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Avvik Kr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Avvik %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>
                          <a:latin typeface="Arial"/>
                        </a:defRPr>
                      </a:pPr>
                      <a:r>
                        <a:t>Art 1010 Faste lønninger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4 850 000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4 890 000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+40 000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+0,8 %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>
                          <a:latin typeface="Arial"/>
                        </a:defRPr>
                      </a:pPr>
                      <a:r>
                        <a:t>Art 1020 Innkjøp av vikarer (timelærere)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1 200 000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1 820 000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+620 000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+51,7 %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>
                          <a:latin typeface="Arial"/>
                        </a:defRPr>
                      </a:pPr>
                      <a:r>
                        <a:t>Art 1090 Overtid og kveldstillegg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57 000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436 000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+379 000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+664,9 %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>
                          <a:latin typeface="Arial"/>
                        </a:defRPr>
                      </a:pPr>
                      <a:r>
                        <a:t>Art 1600 NAV-refusjoner (sykepenger)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-590 000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-410 000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+180 000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Arial"/>
                        </a:defRPr>
                      </a:pPr>
                      <a:r>
                        <a:t>-30,5 %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846320"/>
            <a:ext cx="106984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Totalt Enhet 202 Grunnskole: Budsjett kr 6 850 000  |  Faktisk kr 7 700 000  |  Avvik: +850 000 kr (+12,4 %)</a:t>
            </a:r>
          </a:p>
          <a:p>
            <a:pPr>
              <a:spcBef>
                <a:spcPts val="400"/>
              </a:spcBef>
              <a:defRPr sz="1050">
                <a:solidFill>
                  <a:srgbClr val="4B5563"/>
                </a:solidFill>
              </a:defRPr>
            </a:pPr>
            <a:r>
              <a:t>Merk: Jf. bruttoprinsippet i Kommuneloven § 14-6 fjerde ledd er det ikke adgang til å motregne vikarutgiftene mot forventede refusjoner. Hver post må føres og rapporteres brutto.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c31a19ca155f  •  Side 3 av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Rotårsak: Vikarforbruk og refusjonsetterslep utgjør 94 % av avviket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Avviksbro (Waterfall) fra opprinnelig tildelt ramme til faktisk regnskapsført forbruk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Tildelt Ramme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6 850 000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Opprinnelig budsjett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32888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+ Vikarer (1020)</a:t>
            </a:r>
          </a:p>
          <a:p>
            <a:pPr>
              <a:spcBef>
                <a:spcPts val="800"/>
              </a:spcBef>
              <a:defRPr sz="1500" b="1">
                <a:solidFill>
                  <a:srgbClr val="DC2626"/>
                </a:solidFill>
              </a:defRPr>
            </a:pPr>
            <a:r>
              <a:t>+620 000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14,2 % sesongfravær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4256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+ Overtid (1090)</a:t>
            </a:r>
          </a:p>
          <a:p>
            <a:pPr>
              <a:spcBef>
                <a:spcPts val="800"/>
              </a:spcBef>
              <a:defRPr sz="1500" b="1">
                <a:solidFill>
                  <a:srgbClr val="DC2626"/>
                </a:solidFill>
              </a:defRPr>
            </a:pPr>
            <a:r>
              <a:t>+379 000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Akutt vikarmangel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5624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- NAV Refusjon (1600)</a:t>
            </a:r>
          </a:p>
          <a:p>
            <a:pPr>
              <a:spcBef>
                <a:spcPts val="800"/>
              </a:spcBef>
              <a:defRPr sz="1500" b="1">
                <a:solidFill>
                  <a:srgbClr val="DC2626"/>
                </a:solidFill>
              </a:defRPr>
            </a:pPr>
            <a:r>
              <a:t>+180 000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48 dg saksbehandling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36992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Øvrig Drift</a:t>
            </a:r>
          </a:p>
          <a:p>
            <a:pPr>
              <a:spcBef>
                <a:spcPts val="800"/>
              </a:spcBef>
              <a:defRPr sz="1500" b="1">
                <a:solidFill>
                  <a:srgbClr val="16A34A"/>
                </a:solidFill>
              </a:defRPr>
            </a:pPr>
            <a:r>
              <a:t>-329 000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Innsparing læremidler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38360" y="1828800"/>
            <a:ext cx="1600200" cy="2926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2937"/>
                </a:solidFill>
              </a:defRPr>
            </a:pPr>
            <a:r>
              <a:t>Faktisk Regnskap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7 700 000</a:t>
            </a:r>
          </a:p>
          <a:p>
            <a:pPr>
              <a:spcBef>
                <a:spcPts val="600"/>
              </a:spcBef>
              <a:defRPr sz="950">
                <a:solidFill>
                  <a:srgbClr val="4B5563"/>
                </a:solidFill>
              </a:defRPr>
            </a:pPr>
            <a:r>
              <a:t>Sum per 30.06.2026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Årsaksdiagnose for Bystyret:</a:t>
            </a:r>
          </a:p>
          <a:p>
            <a:pPr>
              <a:defRPr sz="1050">
                <a:solidFill>
                  <a:srgbClr val="1F2937"/>
                </a:solidFill>
              </a:defRPr>
            </a:pPr>
            <a:r>
              <a:t>1. Vikarbruken skyldes en opphopning av langtidssykefravær blant kontaktlærere i mai og juni.</a:t>
            </a:r>
            <a:br/>
            <a:r>
              <a:t>2. NAV-etterslepet representerer et midlertidig likviditets- og periodiseringsavvik som reverseres ved utbetaling.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c31a19ca155f  •  Side 4 av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Handlingsplan: To-trinns tiltakspakke kutter månedlig merforbruk med 170 000 kr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Kvantifiserte strakstiltak (0–30 dager) og strukturelle endringer (30–90 dager) forankret i partssamarbeid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329184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6A34A"/>
                </a:solidFill>
              </a:defRPr>
            </a:pPr>
            <a:r>
              <a:t>FASE 1: STRAKSTILTAK (0–30 DAGER)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Klassesammenslåing: Ved korttidsfravær &lt; 3 dager slås parallellklasser sammen i fellesfag.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Samlepurring NAV: Aktiv oppfølging av utestående refusjonskrav på 180 000 kr.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Innkjøpsfrys: Midlertidig stans i ikke-kritiske læremiddelanskaffelser.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Effekt: Kutter vikarutgifter med ca. 70 000 kr/mnd fra august.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329184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FASE 2: STRUKTURELLE TILTAK (30–90 DAGER)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Felles Vikarpool: Etablering av fast ansatte ressurspersoner på tvers av skolene i Oppvekstsektoren.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Partssamarbeid (HTA § 4): Drøftet med Utdanningsforbundet og Fagforbundet med positiv tilslutning.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Seniorordninger: Bruk av seniorkompetanse ved eksamen og vurdering fremfor eksterne vikarer.</a:t>
            </a:r>
          </a:p>
          <a:p>
            <a:pPr>
              <a:spcBef>
                <a:spcPts val="500"/>
              </a:spcBef>
              <a:defRPr sz="1050">
                <a:solidFill>
                  <a:srgbClr val="1F2937"/>
                </a:solidFill>
              </a:defRPr>
            </a:pPr>
            <a:r>
              <a:t>• Helårseffekt: Kutter strukturelle ekstrakostnader med ca. 680 000 kr på årsbasis.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6A34A"/>
                </a:solidFill>
              </a:defRPr>
            </a:pPr>
            <a:r>
              <a:t>Samlet kvantifisert effekt: 170 000 kr i reduserte månedlige driftsutgifter i 2. halvår = 850 000 kr total besparelse.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c31a19ca155f  •  Side 5 av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Prognosebane EOY: Helårsavvik reduseres fra 1,72 mill. til 350 000 kr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Monte Carlo-simulerte utfall (P10 / P50 / P90) per 31.12.2026 med og uten tiltakspakke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C2626"/>
                </a:solidFill>
              </a:defRPr>
            </a:pPr>
            <a:r>
              <a:t>P90: Worst Case (Uten tiltak)   ───   +1 720 000 kr</a:t>
            </a:r>
          </a:p>
          <a:p>
            <a:pPr>
              <a:spcBef>
                <a:spcPts val="300"/>
              </a:spcBef>
              <a:defRPr sz="1100">
                <a:solidFill>
                  <a:srgbClr val="1F2937"/>
                </a:solidFill>
              </a:defRPr>
            </a:pPr>
            <a:r>
              <a:t>Sykefravær forblir 14 % og ingen tiltak iverksettes. Krever omfattende kutt i andre sektorer.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P50: Base Case (Moderat effekt)   ───   +850 000 kr</a:t>
            </a:r>
          </a:p>
          <a:p>
            <a:pPr>
              <a:spcBef>
                <a:spcPts val="300"/>
              </a:spcBef>
              <a:defRPr sz="1100">
                <a:solidFill>
                  <a:srgbClr val="1F2937"/>
                </a:solidFill>
              </a:defRPr>
            </a:pPr>
            <a:r>
              <a:t>Halvparten av tiltakene slår inn og NAV-refusjoner forsinkes til Q4.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6A34A"/>
                </a:solidFill>
              </a:defRPr>
            </a:pPr>
            <a:r>
              <a:t>P10: Målsetting (Full tiltakseffekt)   ───   +350 000 kr</a:t>
            </a:r>
          </a:p>
          <a:p>
            <a:pPr>
              <a:spcBef>
                <a:spcPts val="300"/>
              </a:spcBef>
              <a:defRPr sz="1100">
                <a:solidFill>
                  <a:srgbClr val="1F2937"/>
                </a:solidFill>
              </a:defRPr>
            </a:pPr>
            <a:r>
              <a:t>Full gjennomføring av vikarpool og sammenslåing. Dekkes inn via disposisjonsfond.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Dekningskilde: Det gjenstående avviket på 350 000 kr foreslås dekket inn via Oppvekstsektorens omstillingsfond jf. § 14-5.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c31a19ca155f  •  Side 6 av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Kommunedirektørens forslag til vedtak i Bystyret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Formell sak fremmet i medhold av Kommuneloven § 14-5 for 2. tertialrapport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39319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Kommunedirektøren innstiller overfor Bystyret følgende vedtak: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1. Bystyret tar orienteringen om den økonomiske situasjonen i Enhet 202 Grunnskole per 2. tertial 2026 til etterretning.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2. Bystyret godkjenner i medhold av Kommuneloven § 14-5 at et forventet merforbruk på inntil kr 350 000 dekkes inn gjennom omdisponering fra Oppvekstsektorens omstillingsfond.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3. Kommunedirektøren pålegges å iverksette tiltakspakken for vikarbruk, herunder opprettelse av felles vikarpool i tråd med Hovedtariffavtalen § 4, med virkning fra 1. august 2026.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4. Status for tiltakene og oppdatert helårsprognose legges frem i forbindelse med 3. tertialrapport 2026 og budsjett 2027.</a:t>
            </a:r>
          </a:p>
          <a:p>
            <a:pPr>
              <a:spcBef>
                <a:spcPts val="1400"/>
              </a:spcBef>
              <a:defRPr sz="1000" i="1">
                <a:solidFill>
                  <a:srgbClr val="4B5563"/>
                </a:solidFill>
              </a:defRPr>
            </a:pPr>
            <a:r>
              <a:t>Kristiansand, 14.10.2026  •  Camilla Dunsæd, Kommunedirektør  /  Frank Ellingsen, Senior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c31a19ca155f  •  Side 7 av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