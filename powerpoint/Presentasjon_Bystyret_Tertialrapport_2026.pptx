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645920"/>
            <a:ext cx="10058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93C5FD"/>
                </a:solidFill>
                <a:latin typeface="Arial"/>
              </a:defRPr>
            </a:pPr>
            <a:r>
              <a:t>KRISTIANSAND KOMMUNE</a:t>
            </a:r>
          </a:p>
          <a:p>
            <a:pPr>
              <a:spcBef>
                <a:spcPts val="1200"/>
              </a:spcBef>
              <a:defRPr sz="3600" b="1">
                <a:solidFill>
                  <a:srgbClr val="FFFFFF"/>
                </a:solidFill>
                <a:latin typeface="Arial"/>
              </a:defRPr>
            </a:pPr>
            <a:r>
              <a:t>Økonomisk Status &amp; 2. Tertialrapport 2026</a:t>
            </a:r>
          </a:p>
          <a:p>
            <a:pPr>
              <a:spcBef>
                <a:spcPts val="800"/>
              </a:spcBef>
              <a:defRPr sz="1800">
                <a:solidFill>
                  <a:srgbClr val="F3F4F6"/>
                </a:solidFill>
                <a:latin typeface="Arial"/>
              </a:defRPr>
            </a:pPr>
            <a:r>
              <a:t>Avviksanalyse, Tiltakspakke og Helårsprognose (EOY) for Enhet 202 Grunnskole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4937760"/>
            <a:ext cx="10058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BFDBFE"/>
                </a:solidFill>
              </a:defRPr>
            </a:pPr>
            <a:r>
              <a:t>Saksbehandler: Frank Ellingsen, Senior Controller  |  Møte: Bystyret / Formannskapet  |  Dato: 14.10.2026</a:t>
            </a:r>
          </a:p>
          <a:p>
            <a:pPr>
              <a:spcBef>
                <a:spcPts val="400"/>
              </a:spcBef>
              <a:defRPr sz="1000">
                <a:solidFill>
                  <a:srgbClr val="93C5FD"/>
                </a:solidFill>
              </a:defRPr>
            </a:pPr>
            <a:r>
              <a:t>Kommune-Audit Stempel (SHA-256): 4c0531b485a4529a89e1ebd9...  |  Hjemmel: Kommuneloven § 14-5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1E3A8A"/>
                </a:solidFill>
                <a:latin typeface="Arial"/>
              </a:defRPr>
            </a:pPr>
            <a:r>
              <a:t>Hovedbudskap: Merforbruk i Grunnskolen isolert – Tiltak sikrer balanse</a:t>
            </a:r>
          </a:p>
          <a:p>
            <a:pPr>
              <a:spcBef>
                <a:spcPts val="400"/>
              </a:spcBef>
              <a:defRPr sz="1200">
                <a:solidFill>
                  <a:srgbClr val="4B5563"/>
                </a:solidFill>
                <a:latin typeface="Arial"/>
              </a:defRPr>
            </a:pPr>
            <a:r>
              <a:t>Executive Summary: YTD avvik krever justering, men handlingsplan reduserer helårsbelastningen til kr 350 000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3291840" cy="2286000"/>
          </a:xfrm>
          <a:prstGeom prst="roundRect">
            <a:avLst/>
          </a:prstGeom>
          <a:solidFill>
            <a:srgbClr val="FAFAFA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29260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4B5563"/>
                </a:solidFill>
              </a:defRPr>
            </a:pPr>
            <a:r>
              <a:t>YTD MERFORBRUK</a:t>
            </a:r>
          </a:p>
          <a:p>
            <a:pPr>
              <a:spcBef>
                <a:spcPts val="1000"/>
              </a:spcBef>
              <a:defRPr sz="2800" b="1">
                <a:solidFill>
                  <a:srgbClr val="DC2626"/>
                </a:solidFill>
              </a:defRPr>
            </a:pPr>
            <a:r>
              <a:t>+850 000 kr</a:t>
            </a:r>
          </a:p>
          <a:p>
            <a:pPr>
              <a:spcBef>
                <a:spcPts val="800"/>
              </a:spcBef>
              <a:defRPr sz="1100">
                <a:solidFill>
                  <a:srgbClr val="1F2937"/>
                </a:solidFill>
              </a:defRPr>
            </a:pPr>
            <a:r>
              <a:t>+12,4 % over budsjettramme Q2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645920"/>
            <a:ext cx="3291840" cy="2286000"/>
          </a:xfrm>
          <a:prstGeom prst="roundRect">
            <a:avLst/>
          </a:prstGeom>
          <a:solidFill>
            <a:srgbClr val="FAFAFA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0" y="1828800"/>
            <a:ext cx="29260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4B5563"/>
                </a:solidFill>
              </a:defRPr>
            </a:pPr>
            <a:r>
              <a:t>HOVEDÅRSAK VIKAR</a:t>
            </a:r>
          </a:p>
          <a:p>
            <a:pPr>
              <a:spcBef>
                <a:spcPts val="1000"/>
              </a:spcBef>
              <a:defRPr sz="2800" b="1">
                <a:solidFill>
                  <a:srgbClr val="1E3A8A"/>
                </a:solidFill>
              </a:defRPr>
            </a:pPr>
            <a:r>
              <a:t>620 000 kr</a:t>
            </a:r>
          </a:p>
          <a:p>
            <a:pPr>
              <a:spcBef>
                <a:spcPts val="800"/>
              </a:spcBef>
              <a:defRPr sz="1100">
                <a:solidFill>
                  <a:srgbClr val="1F2937"/>
                </a:solidFill>
              </a:defRPr>
            </a:pPr>
            <a:r>
              <a:t>Konto 1020 (14,2 % sesongsykefravær)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645920"/>
            <a:ext cx="3291840" cy="2286000"/>
          </a:xfrm>
          <a:prstGeom prst="roundRect">
            <a:avLst/>
          </a:prstGeom>
          <a:solidFill>
            <a:srgbClr val="FAFAFA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0" y="1828800"/>
            <a:ext cx="29260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4B5563"/>
                </a:solidFill>
              </a:defRPr>
            </a:pPr>
            <a:r>
              <a:t>FORVENTET EOY BALANSE</a:t>
            </a:r>
          </a:p>
          <a:p>
            <a:pPr>
              <a:spcBef>
                <a:spcPts val="1000"/>
              </a:spcBef>
              <a:defRPr sz="2800" b="1">
                <a:solidFill>
                  <a:srgbClr val="16A34A"/>
                </a:solidFill>
              </a:defRPr>
            </a:pPr>
            <a:r>
              <a:t>+350 000 kr</a:t>
            </a:r>
          </a:p>
          <a:p>
            <a:pPr>
              <a:spcBef>
                <a:spcPts val="800"/>
              </a:spcBef>
              <a:defRPr sz="1100">
                <a:solidFill>
                  <a:srgbClr val="1F2937"/>
                </a:solidFill>
              </a:defRPr>
            </a:pPr>
            <a:r>
              <a:t>Dekkes inn via omstillingsfond (§ 14-5)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4297680"/>
            <a:ext cx="10698480" cy="1645920"/>
          </a:xfrm>
          <a:prstGeom prst="rect">
            <a:avLst/>
          </a:prstGeom>
          <a:solidFill>
            <a:srgbClr val="F3F4F6"/>
          </a:solidFill>
          <a:ln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E3A8A"/>
                </a:solidFill>
              </a:defRPr>
            </a:pPr>
            <a:r>
              <a:t>Viktigste observasjoner for Kommunedirektøren og Bystyret:</a:t>
            </a:r>
          </a:p>
          <a:p>
            <a:pPr>
              <a:spcBef>
                <a:spcPts val="400"/>
              </a:spcBef>
              <a:defRPr sz="1100">
                <a:solidFill>
                  <a:srgbClr val="1F2937"/>
                </a:solidFill>
              </a:defRPr>
            </a:pPr>
            <a:r>
              <a:t>• Avviket er konsentrert til Enhet 202 Grunnskole – øvrige skoler i Kristiansand leverer innenfor tildelt budsjettramme.</a:t>
            </a:r>
          </a:p>
          <a:p>
            <a:pPr>
              <a:defRPr sz="1100">
                <a:solidFill>
                  <a:srgbClr val="1F2937"/>
                </a:solidFill>
              </a:defRPr>
            </a:pPr>
            <a:r>
              <a:t>• Refusjonsetterslep fra NAV (konto 1600) på kr 180 000 vil reverseres i Q3 etter oversendelse av samlekrav.</a:t>
            </a:r>
          </a:p>
          <a:p>
            <a:pPr>
              <a:defRPr sz="1100">
                <a:solidFill>
                  <a:srgbClr val="1F2937"/>
                </a:solidFill>
              </a:defRPr>
            </a:pPr>
            <a:r>
              <a:t>• Med iverksatte tiltak fra 1. august holdes samlet årsresultat innenfor rammene av Kommuneloven § 14-5.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B5563"/>
                </a:solidFill>
                <a:latin typeface="Arial"/>
              </a:defRPr>
            </a:pPr>
            <a:r>
              <a:t>Kristiansand kommune | Økonomi &amp; Virksomhetsstyring  •  Audit ID: 4c0531b485a4  •  Side 2 av 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1E3A8A"/>
                </a:solidFill>
                <a:latin typeface="Arial"/>
              </a:defRPr>
            </a:pPr>
            <a:r>
              <a:t>YTD Avviksstatus: Enhet 202 har 12,4 % merforbruk per 30.06.2026</a:t>
            </a:r>
          </a:p>
          <a:p>
            <a:pPr>
              <a:spcBef>
                <a:spcPts val="400"/>
              </a:spcBef>
              <a:defRPr sz="1200">
                <a:solidFill>
                  <a:srgbClr val="4B5563"/>
                </a:solidFill>
                <a:latin typeface="Arial"/>
              </a:defRPr>
            </a:pPr>
            <a:r>
              <a:t>Regnskap mot periodisert ramme iht. KOSTRA-artsfordeling i Visma Enterprise ERP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645920"/>
          <a:ext cx="1069848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74720"/>
                <a:gridCol w="1828800"/>
                <a:gridCol w="1828800"/>
                <a:gridCol w="1828800"/>
                <a:gridCol w="1737360"/>
              </a:tblGrid>
              <a:tr h="585216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Kontoart / Beskrivelse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Budsjett Q2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Faktisk Q2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Avvik Kr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Avvik %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algn="l">
                        <a:defRPr sz="1100">
                          <a:latin typeface="Arial"/>
                        </a:defRPr>
                      </a:pPr>
                      <a:r>
                        <a:t>Art 1010 Faste lønninger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latin typeface="Arial"/>
                        </a:defRPr>
                      </a:pPr>
                      <a:r>
                        <a:t>4 850 000 kr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latin typeface="Arial"/>
                        </a:defRPr>
                      </a:pPr>
                      <a:r>
                        <a:t>4 890 000 kr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 b="1">
                          <a:solidFill>
                            <a:srgbClr val="1F2937"/>
                          </a:solidFill>
                          <a:latin typeface="Arial"/>
                        </a:defRPr>
                      </a:pPr>
                      <a:r>
                        <a:t>+40 000 kr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latin typeface="Arial"/>
                        </a:defRPr>
                      </a:pPr>
                      <a:r>
                        <a:t>+0,8 %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algn="l">
                        <a:defRPr sz="1100">
                          <a:latin typeface="Arial"/>
                        </a:defRPr>
                      </a:pPr>
                      <a:r>
                        <a:t>Art 1020 Innkjøp av vikarer (timelærere)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latin typeface="Arial"/>
                        </a:defRPr>
                      </a:pPr>
                      <a:r>
                        <a:t>1 200 000 kr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latin typeface="Arial"/>
                        </a:defRPr>
                      </a:pPr>
                      <a:r>
                        <a:t>1 820 000 kr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 b="1">
                          <a:solidFill>
                            <a:srgbClr val="DC2626"/>
                          </a:solidFill>
                          <a:latin typeface="Arial"/>
                        </a:defRPr>
                      </a:pPr>
                      <a:r>
                        <a:t>+620 000 kr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latin typeface="Arial"/>
                        </a:defRPr>
                      </a:pPr>
                      <a:r>
                        <a:t>+51,7 %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algn="l">
                        <a:defRPr sz="1100">
                          <a:latin typeface="Arial"/>
                        </a:defRPr>
                      </a:pPr>
                      <a:r>
                        <a:t>Art 1090 Overtid og kveldstillegg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latin typeface="Arial"/>
                        </a:defRPr>
                      </a:pPr>
                      <a:r>
                        <a:t>57 000 kr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latin typeface="Arial"/>
                        </a:defRPr>
                      </a:pPr>
                      <a:r>
                        <a:t>436 000 kr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 b="1">
                          <a:solidFill>
                            <a:srgbClr val="DC2626"/>
                          </a:solidFill>
                          <a:latin typeface="Arial"/>
                        </a:defRPr>
                      </a:pPr>
                      <a:r>
                        <a:t>+379 000 kr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latin typeface="Arial"/>
                        </a:defRPr>
                      </a:pPr>
                      <a:r>
                        <a:t>+664,9 %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algn="l">
                        <a:defRPr sz="1100">
                          <a:latin typeface="Arial"/>
                        </a:defRPr>
                      </a:pPr>
                      <a:r>
                        <a:t>Art 1600 NAV-refusjoner (sykepenger)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latin typeface="Arial"/>
                        </a:defRPr>
                      </a:pPr>
                      <a:r>
                        <a:t>-590 000 kr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latin typeface="Arial"/>
                        </a:defRPr>
                      </a:pPr>
                      <a:r>
                        <a:t>-410 000 kr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 b="1">
                          <a:solidFill>
                            <a:srgbClr val="DC2626"/>
                          </a:solidFill>
                          <a:latin typeface="Arial"/>
                        </a:defRPr>
                      </a:pPr>
                      <a:r>
                        <a:t>+180 000 kr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latin typeface="Arial"/>
                        </a:defRPr>
                      </a:pPr>
                      <a:r>
                        <a:t>-30,5 %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31520" y="4846320"/>
            <a:ext cx="1069848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DC2626"/>
                </a:solidFill>
              </a:defRPr>
            </a:pPr>
            <a:r>
              <a:t>Totalt Enhet 202 Grunnskole: Budsjett kr 6 850 000  |  Faktisk kr 7 700 000  |  Avvik: +850 000 kr (+12,4 %)</a:t>
            </a:r>
          </a:p>
          <a:p>
            <a:pPr>
              <a:spcBef>
                <a:spcPts val="400"/>
              </a:spcBef>
              <a:defRPr sz="1050">
                <a:solidFill>
                  <a:srgbClr val="4B5563"/>
                </a:solidFill>
              </a:defRPr>
            </a:pPr>
            <a:r>
              <a:t>Merk: Jf. bruttoprinsippet i Kommuneloven § 14-6 fjerde ledd er det ikke adgang til å motregne vikarutgiftene mot forventede refusjoner. Hver post må føres og rapporteres brutto.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B5563"/>
                </a:solidFill>
                <a:latin typeface="Arial"/>
              </a:defRPr>
            </a:pPr>
            <a:r>
              <a:t>Kristiansand kommune | Økonomi &amp; Virksomhetsstyring  •  Audit ID: 4c0531b485a4  •  Side 3 av 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1E3A8A"/>
                </a:solidFill>
                <a:latin typeface="Arial"/>
              </a:defRPr>
            </a:pPr>
            <a:r>
              <a:t>Rotårsak: Vikarforbruk og refusjonsetterslep utgjør 94 % av avviket</a:t>
            </a:r>
          </a:p>
          <a:p>
            <a:pPr>
              <a:spcBef>
                <a:spcPts val="400"/>
              </a:spcBef>
              <a:defRPr sz="1200">
                <a:solidFill>
                  <a:srgbClr val="4B5563"/>
                </a:solidFill>
                <a:latin typeface="Arial"/>
              </a:defRPr>
            </a:pPr>
            <a:r>
              <a:t>Avviksbro (Waterfall) fra opprinnelig tildelt ramme til faktisk regnskapsført forbruk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828800"/>
            <a:ext cx="1600200" cy="2926080"/>
          </a:xfrm>
          <a:prstGeom prst="roundRect">
            <a:avLst/>
          </a:prstGeom>
          <a:solidFill>
            <a:srgbClr val="FAFAFA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1F2937"/>
                </a:solidFill>
              </a:defRPr>
            </a:pPr>
            <a:r>
              <a:t>Tildelt Ramme</a:t>
            </a:r>
          </a:p>
          <a:p>
            <a:pPr>
              <a:spcBef>
                <a:spcPts val="800"/>
              </a:spcBef>
              <a:defRPr sz="1500" b="1">
                <a:solidFill>
                  <a:srgbClr val="1E3A8A"/>
                </a:solidFill>
              </a:defRPr>
            </a:pPr>
            <a:r>
              <a:t>6 850 000</a:t>
            </a:r>
          </a:p>
          <a:p>
            <a:pPr>
              <a:spcBef>
                <a:spcPts val="600"/>
              </a:spcBef>
              <a:defRPr sz="950">
                <a:solidFill>
                  <a:srgbClr val="4B5563"/>
                </a:solidFill>
              </a:defRPr>
            </a:pPr>
            <a:r>
              <a:t>Opprinnelig budsjett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532888" y="1828800"/>
            <a:ext cx="1600200" cy="2926080"/>
          </a:xfrm>
          <a:prstGeom prst="roundRect">
            <a:avLst/>
          </a:prstGeom>
          <a:solidFill>
            <a:srgbClr val="FAFAFA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1F2937"/>
                </a:solidFill>
              </a:defRPr>
            </a:pPr>
            <a:r>
              <a:t>+ Vikarer (1020)</a:t>
            </a:r>
          </a:p>
          <a:p>
            <a:pPr>
              <a:spcBef>
                <a:spcPts val="800"/>
              </a:spcBef>
              <a:defRPr sz="1500" b="1">
                <a:solidFill>
                  <a:srgbClr val="DC2626"/>
                </a:solidFill>
              </a:defRPr>
            </a:pPr>
            <a:r>
              <a:t>+620 000</a:t>
            </a:r>
          </a:p>
          <a:p>
            <a:pPr>
              <a:spcBef>
                <a:spcPts val="600"/>
              </a:spcBef>
              <a:defRPr sz="950">
                <a:solidFill>
                  <a:srgbClr val="4B5563"/>
                </a:solidFill>
              </a:defRPr>
            </a:pPr>
            <a:r>
              <a:t>14,2 % sesongfravær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34256" y="1828800"/>
            <a:ext cx="1600200" cy="2926080"/>
          </a:xfrm>
          <a:prstGeom prst="roundRect">
            <a:avLst/>
          </a:prstGeom>
          <a:solidFill>
            <a:srgbClr val="FAFAFA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1F2937"/>
                </a:solidFill>
              </a:defRPr>
            </a:pPr>
            <a:r>
              <a:t>+ Overtid (1090)</a:t>
            </a:r>
          </a:p>
          <a:p>
            <a:pPr>
              <a:spcBef>
                <a:spcPts val="800"/>
              </a:spcBef>
              <a:defRPr sz="1500" b="1">
                <a:solidFill>
                  <a:srgbClr val="DC2626"/>
                </a:solidFill>
              </a:defRPr>
            </a:pPr>
            <a:r>
              <a:t>+379 000</a:t>
            </a:r>
          </a:p>
          <a:p>
            <a:pPr>
              <a:spcBef>
                <a:spcPts val="600"/>
              </a:spcBef>
              <a:defRPr sz="950">
                <a:solidFill>
                  <a:srgbClr val="4B5563"/>
                </a:solidFill>
              </a:defRPr>
            </a:pPr>
            <a:r>
              <a:t>Akutt vikarmangel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35624" y="1828800"/>
            <a:ext cx="1600200" cy="2926080"/>
          </a:xfrm>
          <a:prstGeom prst="roundRect">
            <a:avLst/>
          </a:prstGeom>
          <a:solidFill>
            <a:srgbClr val="FAFAFA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1F2937"/>
                </a:solidFill>
              </a:defRPr>
            </a:pPr>
            <a:r>
              <a:t>- NAV Refusjon (1600)</a:t>
            </a:r>
          </a:p>
          <a:p>
            <a:pPr>
              <a:spcBef>
                <a:spcPts val="800"/>
              </a:spcBef>
              <a:defRPr sz="1500" b="1">
                <a:solidFill>
                  <a:srgbClr val="DC2626"/>
                </a:solidFill>
              </a:defRPr>
            </a:pPr>
            <a:r>
              <a:t>+180 000</a:t>
            </a:r>
          </a:p>
          <a:p>
            <a:pPr>
              <a:spcBef>
                <a:spcPts val="600"/>
              </a:spcBef>
              <a:defRPr sz="950">
                <a:solidFill>
                  <a:srgbClr val="4B5563"/>
                </a:solidFill>
              </a:defRPr>
            </a:pPr>
            <a:r>
              <a:t>48 dg saksbehandling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36992" y="1828800"/>
            <a:ext cx="1600200" cy="2926080"/>
          </a:xfrm>
          <a:prstGeom prst="roundRect">
            <a:avLst/>
          </a:prstGeom>
          <a:solidFill>
            <a:srgbClr val="FAFAFA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1F2937"/>
                </a:solidFill>
              </a:defRPr>
            </a:pPr>
            <a:r>
              <a:t>Øvrig Drift</a:t>
            </a:r>
          </a:p>
          <a:p>
            <a:pPr>
              <a:spcBef>
                <a:spcPts val="800"/>
              </a:spcBef>
              <a:defRPr sz="1500" b="1">
                <a:solidFill>
                  <a:srgbClr val="16A34A"/>
                </a:solidFill>
              </a:defRPr>
            </a:pPr>
            <a:r>
              <a:t>-329 000</a:t>
            </a:r>
          </a:p>
          <a:p>
            <a:pPr>
              <a:spcBef>
                <a:spcPts val="600"/>
              </a:spcBef>
              <a:defRPr sz="950">
                <a:solidFill>
                  <a:srgbClr val="4B5563"/>
                </a:solidFill>
              </a:defRPr>
            </a:pPr>
            <a:r>
              <a:t>Innsparing læremidler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738360" y="1828800"/>
            <a:ext cx="1600200" cy="2926080"/>
          </a:xfrm>
          <a:prstGeom prst="roundRect">
            <a:avLst/>
          </a:prstGeom>
          <a:solidFill>
            <a:srgbClr val="FAFAFA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1F2937"/>
                </a:solidFill>
              </a:defRPr>
            </a:pPr>
            <a:r>
              <a:t>Faktisk Regnskap</a:t>
            </a:r>
          </a:p>
          <a:p>
            <a:pPr>
              <a:spcBef>
                <a:spcPts val="800"/>
              </a:spcBef>
              <a:defRPr sz="1500" b="1">
                <a:solidFill>
                  <a:srgbClr val="1E3A8A"/>
                </a:solidFill>
              </a:defRPr>
            </a:pPr>
            <a:r>
              <a:t>7 700 000</a:t>
            </a:r>
          </a:p>
          <a:p>
            <a:pPr>
              <a:spcBef>
                <a:spcPts val="600"/>
              </a:spcBef>
              <a:defRPr sz="950">
                <a:solidFill>
                  <a:srgbClr val="4B5563"/>
                </a:solidFill>
              </a:defRPr>
            </a:pPr>
            <a:r>
              <a:t>Sum per 30.06.2026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029200"/>
            <a:ext cx="1069848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E3A8A"/>
                </a:solidFill>
              </a:defRPr>
            </a:pPr>
            <a:r>
              <a:t>Årsaksdiagnose for Bystyret:</a:t>
            </a:r>
          </a:p>
          <a:p>
            <a:pPr>
              <a:defRPr sz="1050">
                <a:solidFill>
                  <a:srgbClr val="1F2937"/>
                </a:solidFill>
              </a:defRPr>
            </a:pPr>
            <a:r>
              <a:t>1. Vikarbruken skyldes en opphopning av langtidssykefravær blant kontaktlærere i mai og juni.</a:t>
            </a:r>
            <a:br/>
            <a:r>
              <a:t>2. NAV-etterslepet representerer et midlertidig likviditets- og periodiseringsavvik som reverseres ved utbetaling.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B5563"/>
                </a:solidFill>
                <a:latin typeface="Arial"/>
              </a:defRPr>
            </a:pPr>
            <a:r>
              <a:t>Kristiansand kommune | Økonomi &amp; Virksomhetsstyring  •  Audit ID: 4c0531b485a4  •  Side 4 av 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1E3A8A"/>
                </a:solidFill>
                <a:latin typeface="Arial"/>
              </a:defRPr>
            </a:pPr>
            <a:r>
              <a:t>Handlingsplan: To-trinns tiltakspakke kutter månedlig merforbruk med 170 000 kr</a:t>
            </a:r>
          </a:p>
          <a:p>
            <a:pPr>
              <a:spcBef>
                <a:spcPts val="400"/>
              </a:spcBef>
              <a:defRPr sz="1200">
                <a:solidFill>
                  <a:srgbClr val="4B5563"/>
                </a:solidFill>
                <a:latin typeface="Arial"/>
              </a:defRPr>
            </a:pPr>
            <a:r>
              <a:t>Kvantifiserte strakstiltak (0–30 dager) og strukturelle endringer (30–90 dager) forankret i partssamarbeid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120640" cy="3291840"/>
          </a:xfrm>
          <a:prstGeom prst="roundRect">
            <a:avLst/>
          </a:prstGeom>
          <a:solidFill>
            <a:srgbClr val="FAFAFA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16A34A"/>
                </a:solidFill>
              </a:defRPr>
            </a:pPr>
            <a:r>
              <a:t>FASE 1: STRAKSTILTAK (0–30 DAGER)</a:t>
            </a:r>
          </a:p>
          <a:p>
            <a:pPr>
              <a:spcBef>
                <a:spcPts val="500"/>
              </a:spcBef>
              <a:defRPr sz="1050">
                <a:solidFill>
                  <a:srgbClr val="1F2937"/>
                </a:solidFill>
              </a:defRPr>
            </a:pPr>
            <a:r>
              <a:t>• Klassesammenslåing: Ved korttidsfravær &lt; 3 dager slås parallellklasser sammen i fellesfag.</a:t>
            </a:r>
          </a:p>
          <a:p>
            <a:pPr>
              <a:spcBef>
                <a:spcPts val="500"/>
              </a:spcBef>
              <a:defRPr sz="1050">
                <a:solidFill>
                  <a:srgbClr val="1F2937"/>
                </a:solidFill>
              </a:defRPr>
            </a:pPr>
            <a:r>
              <a:t>• Samlepurring NAV: Aktiv oppfølging av utestående refusjonskrav på 180 000 kr.</a:t>
            </a:r>
          </a:p>
          <a:p>
            <a:pPr>
              <a:spcBef>
                <a:spcPts val="500"/>
              </a:spcBef>
              <a:defRPr sz="1050">
                <a:solidFill>
                  <a:srgbClr val="1F2937"/>
                </a:solidFill>
              </a:defRPr>
            </a:pPr>
            <a:r>
              <a:t>• Innkjøpsfrys: Midlertidig stans i ikke-kritiske læremiddelanskaffelser.</a:t>
            </a:r>
          </a:p>
          <a:p>
            <a:pPr>
              <a:spcBef>
                <a:spcPts val="500"/>
              </a:spcBef>
              <a:defRPr sz="1050">
                <a:solidFill>
                  <a:srgbClr val="1F2937"/>
                </a:solidFill>
              </a:defRPr>
            </a:pPr>
            <a:r>
              <a:t>• Effekt: Kutter vikarutgifter med ca. 70 000 kr/mnd fra august.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309360" y="1645920"/>
            <a:ext cx="5120640" cy="3291840"/>
          </a:xfrm>
          <a:prstGeom prst="roundRect">
            <a:avLst/>
          </a:prstGeom>
          <a:solidFill>
            <a:srgbClr val="FAFAFA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1E3A8A"/>
                </a:solidFill>
              </a:defRPr>
            </a:pPr>
            <a:r>
              <a:t>FASE 2: STRUKTURELLE TILTAK (30–90 DAGER)</a:t>
            </a:r>
          </a:p>
          <a:p>
            <a:pPr>
              <a:spcBef>
                <a:spcPts val="500"/>
              </a:spcBef>
              <a:defRPr sz="1050">
                <a:solidFill>
                  <a:srgbClr val="1F2937"/>
                </a:solidFill>
              </a:defRPr>
            </a:pPr>
            <a:r>
              <a:t>• Felles Vikarpool: Etablering av fast ansatte ressurspersoner på tvers av skolene i Oppvekstsektoren.</a:t>
            </a:r>
          </a:p>
          <a:p>
            <a:pPr>
              <a:spcBef>
                <a:spcPts val="500"/>
              </a:spcBef>
              <a:defRPr sz="1050">
                <a:solidFill>
                  <a:srgbClr val="1F2937"/>
                </a:solidFill>
              </a:defRPr>
            </a:pPr>
            <a:r>
              <a:t>• Partssamarbeid (HTA § 4): Drøftet med Utdanningsforbundet og Fagforbundet med positiv tilslutning.</a:t>
            </a:r>
          </a:p>
          <a:p>
            <a:pPr>
              <a:spcBef>
                <a:spcPts val="500"/>
              </a:spcBef>
              <a:defRPr sz="1050">
                <a:solidFill>
                  <a:srgbClr val="1F2937"/>
                </a:solidFill>
              </a:defRPr>
            </a:pPr>
            <a:r>
              <a:t>• Seniorordninger: Bruk av seniorkompetanse ved eksamen og vurdering fremfor eksterne vikarer.</a:t>
            </a:r>
          </a:p>
          <a:p>
            <a:pPr>
              <a:spcBef>
                <a:spcPts val="500"/>
              </a:spcBef>
              <a:defRPr sz="1050">
                <a:solidFill>
                  <a:srgbClr val="1F2937"/>
                </a:solidFill>
              </a:defRPr>
            </a:pPr>
            <a:r>
              <a:t>• Helårseffekt: Kutter strukturelle ekstrakostnader med ca. 680 000 kr på årsbasis.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12064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6A34A"/>
                </a:solidFill>
              </a:defRPr>
            </a:pPr>
            <a:r>
              <a:t>Samlet kvantifisert effekt: 170 000 kr i reduserte månedlige driftsutgifter i 2. halvår = 850 000 kr total besparelse.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B5563"/>
                </a:solidFill>
                <a:latin typeface="Arial"/>
              </a:defRPr>
            </a:pPr>
            <a:r>
              <a:t>Kristiansand kommune | Økonomi &amp; Virksomhetsstyring  •  Audit ID: 4c0531b485a4  •  Side 5 av 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1E3A8A"/>
                </a:solidFill>
                <a:latin typeface="Arial"/>
              </a:defRPr>
            </a:pPr>
            <a:r>
              <a:t>Prognosebane EOY: Helårsavvik reduseres fra 1,72 mill. til 350 000 kr</a:t>
            </a:r>
          </a:p>
          <a:p>
            <a:pPr>
              <a:spcBef>
                <a:spcPts val="400"/>
              </a:spcBef>
              <a:defRPr sz="1200">
                <a:solidFill>
                  <a:srgbClr val="4B5563"/>
                </a:solidFill>
                <a:latin typeface="Arial"/>
              </a:defRPr>
            </a:pPr>
            <a:r>
              <a:t>Monte Carlo-simulerte utfall (P10 / P50 / P90) per 31.12.2026 med og uten tiltakspakke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10698480" cy="1188720"/>
          </a:xfrm>
          <a:prstGeom prst="roundRect">
            <a:avLst/>
          </a:prstGeom>
          <a:solidFill>
            <a:srgbClr val="FAFAFA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DC2626"/>
                </a:solidFill>
              </a:defRPr>
            </a:pPr>
            <a:r>
              <a:t>P90: Worst Case (Uten tiltak)   ───   +1 720 000 kr</a:t>
            </a:r>
          </a:p>
          <a:p>
            <a:pPr>
              <a:spcBef>
                <a:spcPts val="300"/>
              </a:spcBef>
              <a:defRPr sz="1100">
                <a:solidFill>
                  <a:srgbClr val="1F2937"/>
                </a:solidFill>
              </a:defRPr>
            </a:pPr>
            <a:r>
              <a:t>Sykefravær forblir 14 % og ingen tiltak iverksettes. Krever omfattende kutt i andre sektorer.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3017520"/>
            <a:ext cx="10698480" cy="1188720"/>
          </a:xfrm>
          <a:prstGeom prst="roundRect">
            <a:avLst/>
          </a:prstGeom>
          <a:solidFill>
            <a:srgbClr val="FAFAFA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E3A8A"/>
                </a:solidFill>
              </a:defRPr>
            </a:pPr>
            <a:r>
              <a:t>P50: Base Case (Moderat effekt)   ───   +850 000 kr</a:t>
            </a:r>
          </a:p>
          <a:p>
            <a:pPr>
              <a:spcBef>
                <a:spcPts val="300"/>
              </a:spcBef>
              <a:defRPr sz="1100">
                <a:solidFill>
                  <a:srgbClr val="1F2937"/>
                </a:solidFill>
              </a:defRPr>
            </a:pPr>
            <a:r>
              <a:t>Halvparten av tiltakene slår inn og NAV-refusjoner forsinkes til Q4.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4389120"/>
            <a:ext cx="10698480" cy="1188720"/>
          </a:xfrm>
          <a:prstGeom prst="roundRect">
            <a:avLst/>
          </a:prstGeom>
          <a:solidFill>
            <a:srgbClr val="FAFAFA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6A34A"/>
                </a:solidFill>
              </a:defRPr>
            </a:pPr>
            <a:r>
              <a:t>P10: Målsetting (Full tiltakseffekt)   ───   +350 000 kr</a:t>
            </a:r>
          </a:p>
          <a:p>
            <a:pPr>
              <a:spcBef>
                <a:spcPts val="300"/>
              </a:spcBef>
              <a:defRPr sz="1100">
                <a:solidFill>
                  <a:srgbClr val="1F2937"/>
                </a:solidFill>
              </a:defRPr>
            </a:pPr>
            <a:r>
              <a:t>Full gjennomføring av vikarpool og sammenslåing. Dekkes inn via disposisjonsfond.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577840"/>
            <a:ext cx="10698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E3A8A"/>
                </a:solidFill>
              </a:defRPr>
            </a:pPr>
            <a:r>
              <a:t>Dekningskilde: Det gjenstående avviket på 350 000 kr foreslås dekket inn via Oppvekstsektorens omstillingsfond jf. § 14-5.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B5563"/>
                </a:solidFill>
                <a:latin typeface="Arial"/>
              </a:defRPr>
            </a:pPr>
            <a:r>
              <a:t>Kristiansand kommune | Økonomi &amp; Virksomhetsstyring  •  Audit ID: 4c0531b485a4  •  Side 6 av 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1E3A8A"/>
                </a:solidFill>
                <a:latin typeface="Arial"/>
              </a:defRPr>
            </a:pPr>
            <a:r>
              <a:t>Kommunedirektørens forslag til vedtak i Bystyret</a:t>
            </a:r>
          </a:p>
          <a:p>
            <a:pPr>
              <a:spcBef>
                <a:spcPts val="400"/>
              </a:spcBef>
              <a:defRPr sz="1200">
                <a:solidFill>
                  <a:srgbClr val="4B5563"/>
                </a:solidFill>
                <a:latin typeface="Arial"/>
              </a:defRPr>
            </a:pPr>
            <a:r>
              <a:t>Formell sak fremmet i medhold av Kommuneloven § 14-5 for 2. tertialrapport 2026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10698480" cy="3931920"/>
          </a:xfrm>
          <a:prstGeom prst="roundRect">
            <a:avLst/>
          </a:prstGeom>
          <a:solidFill>
            <a:srgbClr val="F3F4F6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E3A8A"/>
                </a:solidFill>
              </a:defRPr>
            </a:pPr>
            <a:r>
              <a:t>Kommunedirektøren innstiller overfor Bystyret følgende vedtak:</a:t>
            </a:r>
          </a:p>
          <a:p>
            <a:pPr>
              <a:spcBef>
                <a:spcPts val="1000"/>
              </a:spcBef>
              <a:defRPr sz="1150">
                <a:solidFill>
                  <a:srgbClr val="1F2937"/>
                </a:solidFill>
              </a:defRPr>
            </a:pPr>
            <a:r>
              <a:t>1. Bystyret tar orienteringen om den økonomiske situasjonen i Enhet 202 Grunnskole per 2. tertial 2026 til etterretning.</a:t>
            </a:r>
          </a:p>
          <a:p>
            <a:pPr>
              <a:spcBef>
                <a:spcPts val="1000"/>
              </a:spcBef>
              <a:defRPr sz="1150">
                <a:solidFill>
                  <a:srgbClr val="1F2937"/>
                </a:solidFill>
              </a:defRPr>
            </a:pPr>
            <a:r>
              <a:t>2. Bystyret godkjenner i medhold av Kommuneloven § 14-5 at et forventet merforbruk på inntil kr 350 000 dekkes inn gjennom omdisponering fra Oppvekstsektorens omstillingsfond.</a:t>
            </a:r>
          </a:p>
          <a:p>
            <a:pPr>
              <a:spcBef>
                <a:spcPts val="1000"/>
              </a:spcBef>
              <a:defRPr sz="1150">
                <a:solidFill>
                  <a:srgbClr val="1F2937"/>
                </a:solidFill>
              </a:defRPr>
            </a:pPr>
            <a:r>
              <a:t>3. Kommunedirektøren pålegges å iverksette tiltakspakken for vikarbruk, herunder opprettelse av felles vikarpool i tråd med Hovedtariffavtalen § 4, med virkning fra 1. august 2026.</a:t>
            </a:r>
          </a:p>
          <a:p>
            <a:pPr>
              <a:spcBef>
                <a:spcPts val="1000"/>
              </a:spcBef>
              <a:defRPr sz="1150">
                <a:solidFill>
                  <a:srgbClr val="1F2937"/>
                </a:solidFill>
              </a:defRPr>
            </a:pPr>
            <a:r>
              <a:t>4. Status for tiltakene og oppdatert helårsprognose legges frem i forbindelse med 3. tertialrapport 2026 og budsjett 2027.</a:t>
            </a:r>
          </a:p>
          <a:p>
            <a:pPr>
              <a:spcBef>
                <a:spcPts val="1400"/>
              </a:spcBef>
              <a:defRPr sz="1000" i="1">
                <a:solidFill>
                  <a:srgbClr val="4B5563"/>
                </a:solidFill>
              </a:defRPr>
            </a:pPr>
            <a:r>
              <a:t>Kristiansand, 14.10.2026  •  Camilla Dunsæd, Kommunedirektør  /  Frank Ellingsen, Senior Controller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B5563"/>
                </a:solidFill>
                <a:latin typeface="Arial"/>
              </a:defRPr>
            </a:pPr>
            <a:r>
              <a:t>Kristiansand kommune | Økonomi &amp; Virksomhetsstyring  •  Audit ID: 4c0531b485a4  •  Side 7 av 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