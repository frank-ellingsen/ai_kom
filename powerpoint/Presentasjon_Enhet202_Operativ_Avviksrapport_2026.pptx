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KRISTIANSAND KOMMUNE  •  ENHET 202 GRUNNSKOLE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Operativ Avviksrapport &amp; Handlingsplan: Enhet 202</a:t>
            </a:r>
          </a:p>
          <a:p>
            <a:pPr>
              <a:spcBef>
                <a:spcPts val="800"/>
              </a:spcBef>
              <a:defRPr sz="1500">
                <a:solidFill>
                  <a:srgbClr val="E0E7FF"/>
                </a:solidFill>
              </a:defRPr>
            </a:pPr>
            <a:r>
              <a:t>Månedlig Avviksoppfølging  |  Standardmønster MAL-AVVIK-EFFEKT-001  |  Stage-Gate Port 9</a:t>
            </a:r>
          </a:p>
          <a:p>
            <a:pPr>
              <a:spcBef>
                <a:spcPts val="2800"/>
              </a:spcBef>
              <a:defRPr sz="1150">
                <a:solidFill>
                  <a:srgbClr val="BFDBFE"/>
                </a:solidFill>
              </a:defRPr>
            </a:pPr>
            <a:r>
              <a:t>Dato: 17.10.2026  •  Rektor, Enhet 202 Grunnskole  /  Frank Ellingsen, Senior Controller</a:t>
            </a:r>
          </a:p>
          <a:p>
            <a:pPr>
              <a:spcBef>
                <a:spcPts val="400"/>
              </a:spcBef>
              <a:defRPr sz="950">
                <a:solidFill>
                  <a:srgbClr val="93C5FD"/>
                </a:solidFill>
              </a:defRPr>
            </a:pPr>
            <a:r>
              <a:t>Audit Stempel: 065dc5824ebee4f5fc974695...  |  Statusrapport Økonomidialog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Punkt 1: Enhet 202 har et akkumulert merforbruk på 1 420 000 kr (+11,4 %)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Avvik hittil i år per 31.08.2026 målt mot periodisert budsjettramme i Visma Enterprise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VEDTATT ÅRSRAMME</a:t>
            </a:r>
          </a:p>
          <a:p>
            <a:pPr>
              <a:spcBef>
                <a:spcPts val="800"/>
              </a:spcBef>
              <a:defRPr sz="2400" b="1">
                <a:solidFill>
                  <a:srgbClr val="1E3A8A"/>
                </a:solidFill>
              </a:defRPr>
            </a:pPr>
            <a:r>
              <a:t>18 500 000 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Samlet bevilgning til Enhet 202 Grunnskole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AVVIK HITTIL I ÅR (CV)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-1 420 000 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-11,4 % mot periodisert budsjett (Rød alarm)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FORVENTET HELÅRSAVVIK (VAC)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-2 130 000 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Worst case-eskalering uten tiltak (§ 14-5)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069848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Rektors situasjonsbilde: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Avviket skyldes en ekstraordinær fraværsbølge blant lærere og fagarbeidere i 1. halvår, kombinert med høy vikarbruk.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Det er nødvendig med umiddelbare korrigerende tiltak for å overholde kommunedirektørens krav om balanse innen årets slutt.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065dc5824ebe  •  Side 2 av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Punkt 2: Årsaken er 12,8 % sykefravær og høyt innkjøp av vikarer (Art 1020)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Detaljert regnskapsanalyse fordelt på kontoarter i henhold til KOSTRA-standarden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1828800"/>
                <a:gridCol w="1828800"/>
                <a:gridCol w="182880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Kontoart / Beskrivelse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Budsjett YTD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Regnskap YTD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Avvik Kr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Driver / Forklaring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Art 1020 Vikarer (Timelærere)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1 200 000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2 070 000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-870 000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12,8 % korttidsfravær ped. personale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Art 1090 Overtid / Mertid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80 000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-420 000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Sensur- og eksamensgjennomføring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Art 1600 NAV-Refusjoner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-590 000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-440 000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-150 000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Refusjonsetterslep hos NAV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Øvrige driftsutgifter (1100–1400)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650 000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630 000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+20 000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Mindreforbruk læremidler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065dc5824ebe  •  Side 3 av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Punkt 3: Handlingsplan med 3 tiltak gir 830 000 kr i samlet innsparing i 2026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0–30 dagers strakstiltak og 30–90 dagers strukturelle grep i regi av rektor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t>Tiltak 1: Vikarstopp korttidsfravær   ───   680 000 kr innsparing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Tidsramme: 0–30 dager (Fra 1. sept)  •  Ingen vikarinnleie for fravær under 3 dager. Felles vikarring med naboskole.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t>Tiltak 2: Akselerert NAV-innsending   ───   150 000 kr frigjøres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Tidsramme: 30–60 dager (Oktober)  •  Raskere digital oversendelse av inntektsskjema sikrer utestående refusjoner.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Tiltak 3: Overtidsstopp og godkjenning   ───   Stram kostnadskontroll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Tidsramme: Løpende (Høst 2026)  •  All mertid krever skriftlig forhåndsgodkjenning av rektor. Ingen uplanlagt overtid.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065dc5824ebe  •  Side 4 av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Punkt 4: Helårsavvik reduseres fra 2,13 mill. kr til 590 000 kr ved full effekt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Sluttprognose per 31.12.2026 og anbefalt inndekning via omstillingsfondet jf. § 14-5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UTEN TILTAK (WORST CASE)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+2 130 000 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Eskalering truer skolens driftsbalanse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KVANTIFISERT TILTAKSEFFEKT</a:t>
            </a:r>
          </a:p>
          <a:p>
            <a:pPr>
              <a:spcBef>
                <a:spcPts val="800"/>
              </a:spcBef>
              <a:defRPr sz="2400" b="1">
                <a:solidFill>
                  <a:srgbClr val="16A34A"/>
                </a:solidFill>
              </a:defRPr>
            </a:pPr>
            <a:r>
              <a:t>-830 000 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Vikarstopp (680k) + NAV refusjoner (150k)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FORVENTET SLUTTAVVIK EOY</a:t>
            </a:r>
          </a:p>
          <a:p>
            <a:pPr>
              <a:spcBef>
                <a:spcPts val="800"/>
              </a:spcBef>
              <a:defRPr sz="2400" b="1">
                <a:solidFill>
                  <a:srgbClr val="1E3A8A"/>
                </a:solidFill>
              </a:defRPr>
            </a:pPr>
            <a:r>
              <a:t>+590 000 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Søkes dekket via omstillingsfond (§ 14-5)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0698480" cy="192024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Inndekning og politisk forankring: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Det gjenstående avviket på 590 000 kr kan ikke kuttes ytterligere uten å true lovpålagt undervisningstilbud.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Foreslås innarbeidet i 2. tertialrapport som sak til Bystyret med inndekning over Oppvekstsektorens omstillingsfond jf. § 14-5.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065dc5824ebe  •  Side 5 av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Månedlig Vikarkurve: Vikarkostnadene reduseres fra 210 000 kr til 40 000 kr/mnd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Faktisk utvikling januar–august og prognosert bane september–desember etter vikarstopp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Periode / Kvartal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Fraværsprosent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Vikartimer / Mnd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Månedlig Kostnad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 / Tiltak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Q1 (Jan–Mar)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14,2 % (Vinterbølge)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620 timer / mnd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210 000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Uplanlagt innleie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Q2 (Apr–Jun)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11,8 % (Vårsemester)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480 timer / mnd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175 000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Eksamensavvikling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Q3 (Jul–Sep)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8,4 % (Skolestart)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220 timer / mnd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6A34A"/>
                          </a:solidFill>
                        </a:defRPr>
                      </a:pPr>
                      <a:r>
                        <a:t>85 000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Vikarstopp trer i kraft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Q4 (Okt–Des)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6,5 % (Målsetting)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110 timer / mnd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6A34A"/>
                          </a:solidFill>
                        </a:defRPr>
                      </a:pPr>
                      <a:r>
                        <a:t>40 000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Felles vikarring i drift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065dc5824ebe  •  Side 6 av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Stage-Gate Port 9: Attestert Avviksavtale for Enhet 202 Grunnskole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Formell godkjenning av handlingsplan og oppfølgingsmandat jf. MAL-AVVIK-EFFEKT-001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Attestasjon og forpliktelser (Stage-Gate Port 9):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1. Rektor bekrefter iverksetting av vikarstopp for korttidsfravær (&lt; 3 dager) fra 1. september 2026.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2. Skolen tilknyttes den etablerte vikarringen med naboskoler for å dekke uunngåelig fravær.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3. Økonomiavdelingen oversender samlet refusjonskrav på kr 150 000 til NAV for umiddelbar oppgjør.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4. Sluttoppfølging og effektmåling gjennomføres i månedlig dialogmøte 5. oktober 2026.</a:t>
            </a:r>
          </a:p>
          <a:p>
            <a:pPr>
              <a:spcBef>
                <a:spcPts val="1400"/>
              </a:spcBef>
              <a:defRPr sz="1000" i="1">
                <a:solidFill>
                  <a:srgbClr val="4B5563"/>
                </a:solidFill>
              </a:defRPr>
            </a:pPr>
            <a:r>
              <a:t>Kristiansand, 17.10.2026  •  Rektor, Enhet 202  /  Frank Ellingsen, Senior Controller (Stage-Gate Port 9 Attestert)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065dc5824ebe  •  Side 7 av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