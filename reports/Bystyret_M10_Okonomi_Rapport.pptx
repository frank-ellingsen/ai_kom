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645920"/>
            <a:ext cx="10362895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002855"/>
                </a:solidFill>
              </a:defRPr>
            </a:pPr>
            <a:r>
              <a:t>Økonomisk Månedsrapport M10 — Oktober 2026</a:t>
            </a:r>
          </a:p>
          <a:p>
            <a:pPr>
              <a:spcBef>
                <a:spcPts val="1200"/>
              </a:spcBef>
              <a:defRPr sz="2000">
                <a:solidFill>
                  <a:srgbClr val="0072CE"/>
                </a:solidFill>
              </a:defRPr>
            </a:pPr>
            <a:r>
              <a:t>Saksfremlegg til Bystyret og Formannskapet | Kristiansand kommune</a:t>
            </a:r>
          </a:p>
          <a:p>
            <a:pPr>
              <a:spcBef>
                <a:spcPts val="2400"/>
              </a:spcBef>
              <a:defRPr sz="1200">
                <a:solidFill>
                  <a:srgbClr val="64748B"/>
                </a:solidFill>
              </a:defRPr>
            </a:pPr>
            <a:r>
              <a:t>Generert av Antigravity Control Hub: 2026-10-19 19:44 | Saksbehandler: Frank Ellingsen, Senior Financial Controller</a:t>
            </a:r>
          </a:p>
          <a:p>
            <a:pPr>
              <a:spcBef>
                <a:spcPts val="800"/>
              </a:spcBef>
              <a:defRPr sz="1000">
                <a:solidFill>
                  <a:srgbClr val="94A3B8"/>
                </a:solidFill>
              </a:defRPr>
            </a:pPr>
            <a:r>
              <a:t>Kryptografisk revisjonsforsegling: SHA-256 06B3A22A57B291904334D066AC94185D583964886D41F30A343A3E9AE23F8B3A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02855"/>
                </a:solidFill>
              </a:defRPr>
            </a:pPr>
            <a:r>
              <a:t>🏛️ Top 3 Finansielle Nøkkeltall — Kristiansand kommune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463040"/>
            <a:ext cx="3291840" cy="4572000"/>
          </a:xfrm>
          <a:prstGeom prst="rect">
            <a:avLst/>
          </a:prstGeom>
          <a:solidFill>
            <a:srgbClr val="F1F5F9"/>
          </a:solidFill>
          <a:ln w="381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002855"/>
                </a:solidFill>
              </a:defRPr>
            </a:pPr>
            <a:r>
              <a:t>Netto Driftsresultat</a:t>
            </a:r>
          </a:p>
          <a:p>
            <a:pPr algn="ctr">
              <a:spcBef>
                <a:spcPts val="2000"/>
              </a:spcBef>
              <a:defRPr sz="4400" b="1">
                <a:solidFill>
                  <a:srgbClr val="10B981"/>
                </a:solidFill>
              </a:defRPr>
            </a:pPr>
            <a:r>
              <a:t>1.25%</a:t>
            </a:r>
          </a:p>
          <a:p>
            <a:pPr algn="ctr">
              <a:spcBef>
                <a:spcPts val="1200"/>
              </a:spcBef>
              <a:defRPr sz="1300">
                <a:solidFill>
                  <a:srgbClr val="475569"/>
                </a:solidFill>
              </a:defRPr>
            </a:pPr>
            <a:r>
              <a:t>Mål: ≥ 1,00% (TBU: ≥ 1,75%)</a:t>
            </a:r>
          </a:p>
          <a:p>
            <a:pPr algn="ctr">
              <a:spcBef>
                <a:spcPts val="1800"/>
              </a:spcBef>
              <a:defRPr sz="1200" b="1">
                <a:solidFill>
                  <a:srgbClr val="002855"/>
                </a:solidFill>
              </a:defRPr>
            </a:pPr>
            <a:r>
              <a:t>Status: 🟢 Mål oppfylt (115 mill. kr)</a:t>
            </a:r>
          </a:p>
        </p:txBody>
      </p:sp>
      <p:sp>
        <p:nvSpPr>
          <p:cNvPr id="4" name="Rectangle 3"/>
          <p:cNvSpPr/>
          <p:nvPr/>
        </p:nvSpPr>
        <p:spPr>
          <a:xfrm>
            <a:off x="4389120" y="1463040"/>
            <a:ext cx="3291840" cy="4572000"/>
          </a:xfrm>
          <a:prstGeom prst="rect">
            <a:avLst/>
          </a:prstGeom>
          <a:solidFill>
            <a:srgbClr val="F1F5F9"/>
          </a:solidFill>
          <a:ln w="381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002855"/>
                </a:solidFill>
              </a:defRPr>
            </a:pPr>
            <a:r>
              <a:t>Disposisjonsfond</a:t>
            </a:r>
          </a:p>
          <a:p>
            <a:pPr algn="ctr">
              <a:spcBef>
                <a:spcPts val="2000"/>
              </a:spcBef>
              <a:defRPr sz="4400" b="1">
                <a:solidFill>
                  <a:srgbClr val="10B981"/>
                </a:solidFill>
              </a:defRPr>
            </a:pPr>
            <a:r>
              <a:t>4.35%</a:t>
            </a:r>
          </a:p>
          <a:p>
            <a:pPr algn="ctr">
              <a:spcBef>
                <a:spcPts val="1200"/>
              </a:spcBef>
              <a:defRPr sz="1300">
                <a:solidFill>
                  <a:srgbClr val="475569"/>
                </a:solidFill>
              </a:defRPr>
            </a:pPr>
            <a:r>
              <a:t>Mål: ≥ 4,00% (TBU: ≥ 5,00%)</a:t>
            </a:r>
          </a:p>
          <a:p>
            <a:pPr algn="ctr">
              <a:spcBef>
                <a:spcPts val="1800"/>
              </a:spcBef>
              <a:defRPr sz="1200" b="1">
                <a:solidFill>
                  <a:srgbClr val="002855"/>
                </a:solidFill>
              </a:defRPr>
            </a:pPr>
            <a:r>
              <a:t>Buffer: 🟢 460 mill. kr i reserve</a:t>
            </a:r>
          </a:p>
        </p:txBody>
      </p:sp>
      <p:sp>
        <p:nvSpPr>
          <p:cNvPr id="5" name="Rectangle 4"/>
          <p:cNvSpPr/>
          <p:nvPr/>
        </p:nvSpPr>
        <p:spPr>
          <a:xfrm>
            <a:off x="8046720" y="1463040"/>
            <a:ext cx="3291840" cy="4572000"/>
          </a:xfrm>
          <a:prstGeom prst="rect">
            <a:avLst/>
          </a:prstGeom>
          <a:solidFill>
            <a:srgbClr val="F1F5F9"/>
          </a:solidFill>
          <a:ln w="381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002855"/>
                </a:solidFill>
              </a:defRPr>
            </a:pPr>
            <a:r>
              <a:t>Netto Lånegjeld</a:t>
            </a:r>
          </a:p>
          <a:p>
            <a:pPr algn="ctr">
              <a:spcBef>
                <a:spcPts val="2000"/>
              </a:spcBef>
              <a:defRPr sz="4400" b="1">
                <a:solidFill>
                  <a:srgbClr val="10B981"/>
                </a:solidFill>
              </a:defRPr>
            </a:pPr>
            <a:r>
              <a:t>76.8%</a:t>
            </a:r>
          </a:p>
          <a:p>
            <a:pPr algn="ctr">
              <a:spcBef>
                <a:spcPts val="1200"/>
              </a:spcBef>
              <a:defRPr sz="1300">
                <a:solidFill>
                  <a:srgbClr val="475569"/>
                </a:solidFill>
              </a:defRPr>
            </a:pPr>
            <a:r>
              <a:t>Lånetak: ≤ 78,0% (TBU: ≤ 80,0%)</a:t>
            </a:r>
          </a:p>
          <a:p>
            <a:pPr algn="ctr">
              <a:spcBef>
                <a:spcPts val="1800"/>
              </a:spcBef>
              <a:defRPr sz="1200" b="1">
                <a:solidFill>
                  <a:srgbClr val="002855"/>
                </a:solidFill>
              </a:defRPr>
            </a:pPr>
            <a:r>
              <a:t>Status: 🟢 Under vedtatt lånegrense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02855"/>
                </a:solidFill>
              </a:defRPr>
            </a:pPr>
            <a:r>
              <a:t>📊 Sektorvis Budsjettoppfølging &amp; Triage — M10 YTD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463040"/>
            <a:ext cx="10698480" cy="1371600"/>
          </a:xfrm>
          <a:prstGeom prst="rect">
            <a:avLst/>
          </a:prstGeom>
          <a:solidFill>
            <a:srgbClr val="F1F5F9"/>
          </a:solidFill>
          <a:ln w="2540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DC2626"/>
                </a:solidFill>
              </a:defRPr>
            </a:pPr>
            <a:r>
              <a:t>Område Oppvekst &amp; Utdanning — Status: 🔴 RØD (Merforbruk vikar art 1020)</a:t>
            </a:r>
          </a:p>
          <a:p>
            <a:pPr>
              <a:spcBef>
                <a:spcPts val="600"/>
              </a:spcBef>
              <a:defRPr sz="1200">
                <a:solidFill>
                  <a:srgbClr val="0F172A"/>
                </a:solidFill>
              </a:defRPr>
            </a:pPr>
            <a:r>
              <a:t>Periodisert ramme: 1 850 mill. kr  |  Bokført forbruk: 1 885 mill. kr  |  Netto avvik: -35,0 mill. kr (-1,89 %)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3017520"/>
            <a:ext cx="10698480" cy="1371600"/>
          </a:xfrm>
          <a:prstGeom prst="rect">
            <a:avLst/>
          </a:prstGeom>
          <a:solidFill>
            <a:srgbClr val="F1F5F9"/>
          </a:solidFill>
          <a:ln w="2540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DC2626"/>
                </a:solidFill>
              </a:defRPr>
            </a:pPr>
            <a:r>
              <a:t>Område Helse &amp; Mestring — Status: 🔴 RØD (Overtid art 1090 &amp; sykefravær)</a:t>
            </a:r>
          </a:p>
          <a:p>
            <a:pPr>
              <a:spcBef>
                <a:spcPts val="600"/>
              </a:spcBef>
              <a:defRPr sz="1200">
                <a:solidFill>
                  <a:srgbClr val="0F172A"/>
                </a:solidFill>
              </a:defRPr>
            </a:pPr>
            <a:r>
              <a:t>Periodisert ramme: 2 100 mill. kr  |  Bokført forbruk: 2 142 mill. kr  |  Netto avvik: -42,0 mill. kr (-2,00 %)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4572000"/>
            <a:ext cx="10698480" cy="1371600"/>
          </a:xfrm>
          <a:prstGeom prst="rect">
            <a:avLst/>
          </a:prstGeom>
          <a:solidFill>
            <a:srgbClr val="F1F5F9"/>
          </a:solidFill>
          <a:ln w="254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D97706"/>
                </a:solidFill>
              </a:defRPr>
            </a:pPr>
            <a:r>
              <a:t>Område By- og Stedsutvikling (VAR Selvkost) — Status: 🟡 GUL (Snøbrøyting / Selvkost i balanse)</a:t>
            </a:r>
          </a:p>
          <a:p>
            <a:pPr>
              <a:spcBef>
                <a:spcPts val="600"/>
              </a:spcBef>
              <a:defRPr sz="1200">
                <a:solidFill>
                  <a:srgbClr val="0F172A"/>
                </a:solidFill>
              </a:defRPr>
            </a:pPr>
            <a:r>
              <a:t>Periodisert ramme: 850 mill. kr  |  Bokført forbruk: 851,5 mill. kr  |  Netto avvik: -1,5 mill. kr (-0,18 %)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02855"/>
                </a:solidFill>
              </a:defRPr>
            </a:pPr>
            <a:r>
              <a:t>🛡️ Korrigerende Tiltak jf. § 14-5 &amp; Stage-Gate Port 9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463040"/>
            <a:ext cx="6858000" cy="4572000"/>
          </a:xfrm>
          <a:prstGeom prst="rect">
            <a:avLst/>
          </a:prstGeom>
          <a:solidFill>
            <a:srgbClr val="F1F5F9"/>
          </a:solidFill>
          <a:ln w="19050">
            <a:solidFill>
              <a:srgbClr val="0028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002855"/>
                </a:solidFill>
              </a:defRPr>
            </a:pPr>
            <a:r>
              <a:t>Korrigerende Handlingsplan (Kommuneloven § 14-5):</a:t>
            </a:r>
          </a:p>
          <a:p>
            <a:pPr>
              <a:spcBef>
                <a:spcPts val="1000"/>
              </a:spcBef>
              <a:defRPr sz="1250">
                <a:solidFill>
                  <a:srgbClr val="0F172A"/>
                </a:solidFill>
              </a:defRPr>
            </a:pPr>
            <a:r>
              <a:t>1. Ansettelsesstopp på administrative stillinger ut året.</a:t>
            </a:r>
          </a:p>
          <a:p>
            <a:pPr>
              <a:spcBef>
                <a:spcPts val="1000"/>
              </a:spcBef>
              <a:defRPr sz="1250">
                <a:solidFill>
                  <a:srgbClr val="0F172A"/>
                </a:solidFill>
              </a:defRPr>
            </a:pPr>
            <a:r>
              <a:t>2. Innstramming i vikarbruk (Art 1020) — godkjenning fra kommunalsjef kreves.</a:t>
            </a:r>
          </a:p>
          <a:p>
            <a:pPr>
              <a:spcBef>
                <a:spcPts val="1000"/>
              </a:spcBef>
              <a:defRPr sz="1250">
                <a:solidFill>
                  <a:srgbClr val="0F172A"/>
                </a:solidFill>
              </a:defRPr>
            </a:pPr>
            <a:r>
              <a:t>3. Raskere innkreving av NAV-sykerefusjoner (Art 1600).</a:t>
            </a:r>
          </a:p>
          <a:p>
            <a:pPr>
              <a:spcBef>
                <a:spcPts val="1000"/>
              </a:spcBef>
              <a:defRPr sz="1250">
                <a:solidFill>
                  <a:srgbClr val="0F172A"/>
                </a:solidFill>
              </a:defRPr>
            </a:pPr>
            <a:r>
              <a:t>4. Prosjektgjennomgang investeringsportefølje: Utsettelse av ikke-kritiske tiltak.</a:t>
            </a:r>
          </a:p>
          <a:p>
            <a:pPr>
              <a:spcBef>
                <a:spcPts val="1000"/>
              </a:spcBef>
              <a:defRPr sz="1250">
                <a:solidFill>
                  <a:srgbClr val="0F172A"/>
                </a:solidFill>
              </a:defRPr>
            </a:pPr>
            <a:r>
              <a:t>5. Månedlig rapportering til Formannskapet frem mot årsoppgjøret.</a:t>
            </a:r>
          </a:p>
        </p:txBody>
      </p:sp>
      <p:sp>
        <p:nvSpPr>
          <p:cNvPr id="4" name="Rectangle 3"/>
          <p:cNvSpPr/>
          <p:nvPr/>
        </p:nvSpPr>
        <p:spPr>
          <a:xfrm>
            <a:off x="7863840" y="1463040"/>
            <a:ext cx="3566160" cy="4572000"/>
          </a:xfrm>
          <a:prstGeom prst="rect">
            <a:avLst/>
          </a:prstGeom>
          <a:solidFill>
            <a:srgbClr val="EEF2FF"/>
          </a:solidFill>
          <a:ln w="25400">
            <a:solidFill>
              <a:srgbClr val="0072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002855"/>
                </a:solidFill>
              </a:defRPr>
            </a:pPr>
            <a:r>
              <a:t>Revisorattest &amp; Port 9</a:t>
            </a:r>
          </a:p>
          <a:p>
            <a:pPr algn="ctr">
              <a:spcBef>
                <a:spcPts val="1400"/>
              </a:spcBef>
              <a:defRPr sz="1400" b="1">
                <a:solidFill>
                  <a:srgbClr val="10B981"/>
                </a:solidFill>
              </a:defRPr>
            </a:pPr>
            <a:r>
              <a:t>STATUS: GODKJENT</a:t>
            </a:r>
          </a:p>
          <a:p>
            <a:pPr algn="ctr">
              <a:spcBef>
                <a:spcPts val="1200"/>
              </a:spcBef>
              <a:defRPr sz="1050">
                <a:solidFill>
                  <a:srgbClr val="0F172A"/>
                </a:solidFill>
              </a:defRPr>
            </a:pPr>
            <a:r>
              <a:t>Ansvarlig Controller:</a:t>
            </a:r>
            <a:br/>
            <a:r>
              <a:t>Frank Ellingsen, Senior Financial Controller</a:t>
            </a:r>
          </a:p>
          <a:p>
            <a:pPr algn="ctr">
              <a:spcBef>
                <a:spcPts val="1200"/>
              </a:spcBef>
              <a:defRPr sz="1050">
                <a:solidFill>
                  <a:srgbClr val="0F172A"/>
                </a:solidFill>
              </a:defRPr>
            </a:pPr>
            <a:r>
              <a:t>Kontrollorgan:</a:t>
            </a:r>
            <a:br/>
            <a:r>
              <a:t>Telemark Revisjon IKS</a:t>
            </a:r>
          </a:p>
          <a:p>
            <a:pPr algn="ctr">
              <a:spcBef>
                <a:spcPts val="1200"/>
              </a:spcBef>
              <a:defRPr sz="1050">
                <a:solidFill>
                  <a:srgbClr val="0F172A"/>
                </a:solidFill>
              </a:defRPr>
            </a:pPr>
            <a:r>
              <a:t>Attestdato:</a:t>
            </a:r>
            <a:br/>
            <a:r>
              <a:t>2026-10-19</a:t>
            </a:r>
          </a:p>
          <a:p>
            <a:pPr algn="ctr">
              <a:spcBef>
                <a:spcPts val="1200"/>
              </a:spcBef>
              <a:defRPr sz="1050">
                <a:solidFill>
                  <a:srgbClr val="0F172A"/>
                </a:solidFill>
              </a:defRPr>
            </a:pPr>
            <a:r>
              <a:t>SHA-256 Forsegling:</a:t>
            </a:r>
            <a:br/>
            <a:r>
              <a:t>06b3a22a57b291904334...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