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KRISTIANSAND KOMMUNE | ØKONOMI- OG VIRKSOMHETSSTYRING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</a:defRPr>
            </a:pPr>
            <a:r>
              <a:t>Statusrapport 2. Tertial, Helårsprognoser og Tiltaksplan for Budsjettbalanse (Net Zero)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</a:defRPr>
            </a:pPr>
            <a:r>
              <a:t>Diagnose, avviksdrivere og tiltaksprofil for Kommunal Boenhet og Kommunal Skole</a:t>
            </a:r>
            <a:br/>
            <a:r>
              <a:t>Mål: Net Zero differanse mellom regnskap og budsjett per 31.12.2026</a:t>
            </a:r>
          </a:p>
          <a:p>
            <a:pPr>
              <a:spcBef>
                <a:spcPts val="2800"/>
              </a:spcBef>
              <a:defRPr sz="1000">
                <a:solidFill>
                  <a:srgbClr val="94A3B8"/>
                </a:solidFill>
              </a:defRPr>
            </a:pPr>
            <a:r>
              <a:t>Utarbeidet av: Frank Ellingsen | Senior BI Specialist &amp; Financial Controller</a:t>
            </a:r>
            <a:br/>
            <a:r>
              <a:t>Basert på data fra Visma Enterprise, Framsikt og Golden Record EPM Framework | Dato: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Executive Summary: Samlet Avviksbilde og Veien til Balanse (Net Zero)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YTD REGNSKAP (T2)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31,52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Faktisk bokført Jan–Aug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YTD BUDSJETT (T2)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29,30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Akkumulert T2-ramme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AKKUMULERT MERFORBRUK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-2,23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Avvik: -7,6 % (Kritisk)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NET ZERO MÅL 31.12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0,00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Full budsjettbalanse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68019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Enhet / Område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YTD Budsjett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YTD Regnskap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YTD Avvik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Avvik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EOY Uendret Drift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Tiltak T3 (Sept-Des)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EOY Balansert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Kommunal Boenhet (Helse)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11 337 237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12 622 851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-1 285 614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-11,3 %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19 162 112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+1 928 421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17 233 691 kr (0 kr)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Kommunal Skole (Oppvekst)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17 958 000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18 902 000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-944 000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-5,3 %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28 353 000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+1 416 000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27 490 000 kr (0 kr)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TOTALT KONSOLIDERT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29 295 237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31 524 851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-2 229 614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-7,6 %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47 515 112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+3 344 421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44 723 691 kr (0 kr)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466344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STRATEGISK OPPFORDRING &amp; BESLUTNINGSGRUNNLAG: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1. Uendret drift vil gi et samlet underskudd på -3,34 mill. kr ved årsslutt, noe som utløser formell varslingsplikt til Bystyret jf. Kommuneloven § 14-5.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2. Årsakene er strukturelle og operasjonelle: Kommunal Boenhet er tynget av eksterne vikarbyråer og turnusovertid, mens Kommunal Skole har lærervikarmerforbruk.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3. Løsningen er en forpliktende tiltaksplan i T3 (september-desember) med månedlig sparing på totalt 3,34 mill. kr mot run-rate trend for å sikre Net Zero i årsavvik.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Kommunal Boenhet: Status og Avviksanalyse Jan–Aug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BUDSJETT YTD (AUG)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11,34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11 337 125 kr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REGNSKAP YTD (AUG)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12,63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12 630 912 kr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AVVIK YTD (FRAMSIKT)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-1,29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-11,4 % overforbruk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SISTE MÅNED (AUGUST)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-240 662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Regnskap: 1,77M | Budsjett: 1,53M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97280"/>
                <a:gridCol w="1097280"/>
                <a:gridCol w="1005840"/>
                <a:gridCol w="1737360"/>
              </a:tblGrid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Måned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Budsjett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Regnskap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Avvik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Kommentar /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Januar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1 403 337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1 014 752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+388 585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Mindreforbruk (positiv start)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Februar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1 410 893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2 082 090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-671 197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🚨 Februarsjokk: Vikarbølge &amp; overtid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1 342 381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1 541 249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-198 868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Høyt sykefravær og vikarbruk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2 357 359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2 256 716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+100 643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Feriepengejustering / avstemming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Mai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1 544 215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1 613 437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-69 222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Stabilt merforbruk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Juni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241 681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519 336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-277 655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Ferieoppstart, sommervikarer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Juli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1 512 209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1 837 523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-325 314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Sommerturnus &amp; byråinnleie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1 525 162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1 765 810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-240 648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Fortsatt høyt vikarpress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YTD SUM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11 337 237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12 622 851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-1 285 614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Akkumulert merforbruk T2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949440" y="2743200"/>
            <a:ext cx="4510735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DIAGNOSTISKE FUNN (FRAMSIKT ANALYSE):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1. Dekomponering av Avvik (-1,29 MNOK):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1 Lønn: -1 149 674 kr (-89 % av totalavviket)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2 Utgifter (Drift): -144 113 kr (-11 %)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2. Februaranomalien (-671 kNOK):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Ekstremt høyt fravær og influensatopp utløste samtidig bruk av eksterne vikarbyråer og intern overtid for å dekke lovpålagt 2:1-bemanning.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3. Topp Overforbrukskontoer: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101000 Fastlønn ordinære: -474 918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127040 Kjøp av vikarbyrå: -382 656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102031 Vikar kveld/natt: -259 303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104000 Overtidslønn: -185 573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103000 Ekstrahjelp: -141 648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4. Positive Motposter: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102002 Foreldrepermisjon vikar: +189 928 kr</a:t>
            </a:r>
          </a:p>
          <a:p>
            <a:pPr>
              <a:spcBef>
                <a:spcPts val="300"/>
              </a:spcBef>
              <a:defRPr sz="850">
                <a:solidFill>
                  <a:srgbClr val="1E293B"/>
                </a:solidFill>
              </a:defRPr>
            </a:pPr>
            <a:r>
              <a:t>   • Art 112098 Lærlingtilskudd: +160 447 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Kommunal Boenhet: Helårsprognose og Nødvendig Tiltaksbane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VEDTATT ÅRSBUDSJETT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17,23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Bystyrets vedtatte ramme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EOY RUN-RATE PROGNOSE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19,16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Fremskriving uten tiltak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FORVENTET EOY MERFORBRUK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-1,93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Uavbøtt avvik ved årsslutt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MÅLSCENARIO ETTER TILTAK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17,23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Avvik: 0 kr (Net Zero)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00400"/>
                <a:gridCol w="1005840"/>
                <a:gridCol w="1280160"/>
                <a:gridCol w="1280160"/>
                <a:gridCol w="1371600"/>
                <a:gridCol w="2041855"/>
              </a:tblGrid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Tiltaksbeskrivelse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KOSTRA-Art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Ansvarlig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Mnd Effekt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Total Effekt T3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Forankring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Totalstopp for eksterne vikarbyråer (Adecco/Dedicate)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127040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Enhetsleder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125 000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Avtale m/ intern vikarpool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Turnusomlegging &amp; forhåndsavtalt helgedekning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102030/31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Avdelingsleder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110 000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440 000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Samarbeid m/ tillitsvalgte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Restriktiv overtidskontroll &amp; ledergodkjenning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104000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Enhetsleder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95 000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380 000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Digital timeregistrering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Intensivert sykefraværsoppfølging &amp; NAV-refusjoner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102000/1690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HR-konsulent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100 000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Aktiv IA-oppfølging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Søknad om toppfinansiering ressurskrevende tjenester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170000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Kommunalsjef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Engangsbeløp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208 421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Vedtak 2:1-beboere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SAMLET TILTAKSEFFEKT SLETHEIA BOFELLESSKAP (T3)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Flere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Enhetsleder/Stab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1 928 421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Lederavtale signert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Kommunal Boenhet: Månedlig Balanseringsprofil Sept–Des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AKKUMULERT MERFORBRUK T2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-1 285 614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Historisk per 31.08.2026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72768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BUDSJETTRAMME T3 (SEPT-DES)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5 896 454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Maksimalt tillatt forbruk: 4 610 840 kr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572768"/>
            <a:ext cx="3139135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HELÅRSRESULTAT 31.12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0 kr i avvik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Net Zero budsjettbalanse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463040"/>
                <a:gridCol w="1737360"/>
                <a:gridCol w="2041855"/>
              </a:tblGrid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Periode / Måned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Opprinnelig Budsjett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Run-Rate Fremskriving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Planlagte Tiltak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Justert Regnskap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Akkumulert Avvik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Januar - August (T2)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11 337 237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12 622 851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12 622 851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-1 285 614 kr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1 504 399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1 665 101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+430 000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1 235 101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-1 016 316 kr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Oktober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1 418 774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1 579 476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+430 000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1 149 476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-747 018 kr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November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1 418 540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1 579 242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+430 000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1 149 242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-477 720 kr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Desember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1 554 741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1 715 443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+638 421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1 077 022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(I BALANSE)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HELÅR TOTALT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17 233 691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19 162 112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+1 928 421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17 233 691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(NET ZERO)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Kommunal Skole: Status og Enhetsfordeling 2. Tertial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BUDSJETT HIÅ (T2)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17,96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17 958 000 kr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REGNSKAP HIÅ (T2)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18,90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18 902 000 kr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AVVIK HIÅ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-944 000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-5,3 % overforbruk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ÅRSBUDSJETT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27,49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Forbrukt hiå: 68,8 %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88720"/>
                <a:gridCol w="1188720"/>
                <a:gridCol w="1097280"/>
                <a:gridCol w="914400"/>
                <a:gridCol w="1280160"/>
                <a:gridCol w="1005840"/>
                <a:gridCol w="1584655"/>
              </a:tblGrid>
              <a:tr h="347472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Enhet (brukt)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Regnskap hiå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Budsjett hiå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Avvik i kr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Avvik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Årsbudsjett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Brukt hiå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Ordinær undervisning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12 024 000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11 385 000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-639 000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-5,6 %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17 590 000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68,4 %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🚩 Merforbruk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Spesialundervisning grunnskole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2 792 000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2 496 000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-296 000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-11,9 %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4 114 000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67,9 %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🚩 Merforbruk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Grunnskole (felles)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1 733 000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1 761 000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+28 000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+1,6 %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2 919 000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59,4 %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✓ Under ramme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Skolefritidstilbud (SFO)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983 000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813 000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-170 000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-20,9 %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1 233 000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79,7 %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🚩 Merforbruk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Voksenopplæring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491 000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513 000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+22 000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+4,3 %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35 000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1402,9 %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Avstemmes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Skoleskyss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469 000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516 000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+47 000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+9,1 %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775 000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60,5 %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✓ Under ramme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PPT (Pedagogisk-psykologisk)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286 000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350 000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+64 000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+18,3 %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700 000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40,9 %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✓ Under ramme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Ekskursjonar / Leirskule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0,0 %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124 000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100,0 %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I balanse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TOTALT KOMMUNAL SKOLE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18 902 000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17 958 000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-944 000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-5,3 %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27 490 000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68,8 %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🚩 Totalt avvik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Kommunal Skole: Kontotype- og Refusjonsanalyse (Framsikt)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KONTOTYPE FORDELING (AVVIK I TUSEN KR):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Lønn (totalt): -1 302 kNOK (Hovedkilde til overforbruk)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Overføringsutgifter: -262 kNOK (Mva og fylkeskommunale betalinger)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Finansutgifter: -250 kNOK (Avsetninger til bundne fond)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Finansinntekter: -142 kNOK (Bruk av bundne driftsfond)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Kjøp av varer og tjenester: -41 kNOK (IKT, læremidler og forbruk)</a:t>
            </a:r>
          </a:p>
          <a:p>
            <a:pPr>
              <a:spcBef>
                <a:spcPts val="600"/>
              </a:spcBef>
              <a:defRPr sz="850">
                <a:solidFill>
                  <a:srgbClr val="16A34A"/>
                </a:solidFill>
              </a:defRPr>
            </a:pPr>
            <a:r>
              <a:t>• Overføringsinntekter: +176 kNOK (Statstilskudd og refusjoner)</a:t>
            </a:r>
          </a:p>
          <a:p>
            <a:pPr>
              <a:spcBef>
                <a:spcPts val="600"/>
              </a:spcBef>
              <a:defRPr sz="850">
                <a:solidFill>
                  <a:srgbClr val="16A34A"/>
                </a:solidFill>
              </a:defRPr>
            </a:pPr>
            <a:r>
              <a:t>• Kjøp av prod. / Salg varer: +611 kNOK (Refusjoner og annet salg)</a:t>
            </a:r>
          </a:p>
          <a:p>
            <a:pPr>
              <a:spcBef>
                <a:spcPts val="600"/>
              </a:spcBef>
              <a:defRPr sz="850">
                <a:solidFill>
                  <a:srgbClr val="DC2626"/>
                </a:solidFill>
              </a:defRPr>
            </a:pPr>
            <a:r>
              <a:t>• NETTO AVVIK HELE ENHETEN: -944 kNOK (Samlet overforbruk per T2)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TOPP DRIVERE: NEGATIVE VS POSITIVE KONTOER: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🚨 TOPP NEGATIVE KONTOER (MERFORBRUK):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1. Fast lønn lærere: -1 436 000 kr (Strukturelt lønnspress)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2. Lønn til vikarer: -381 000 kr (Kortsiktig vikarbruk)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3. Sykevikarer: -272 000 kr (Høyt legemeldt fravær)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4. Overtidslønn: -230 000 kr (Mangel på faglærere)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5. Lønn ekstrahjelp: -123 000 kr (Spesialundervisning/SFO)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✓ TOPP POSITIVE KONTOER (REFUSJONER / INNSPARINGER):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1. Refusjon av fødselspenger: +979 000 kr (NAV-innbetaling)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2. Sykelønnsrefusjon: +449 000 kr (Refusjon fra NAV)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3. Kompensasjon moms drift: +266 000 kr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4. Refusjon fra fylkeskommuner: +250 000 kr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  5. Refusjon fra NAV (andre): +222 000 kr</a:t>
            </a: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</a:p>
          <a:p>
            <a:pPr>
              <a:spcBef>
                <a:spcPts val="200"/>
              </a:spcBef>
              <a:defRPr sz="800">
                <a:solidFill>
                  <a:srgbClr val="1E293B"/>
                </a:solidFill>
              </a:defRPr>
            </a:pPr>
            <a:r>
              <a:t>KONKLUSJON: Skolen redder deler av læreroverforbruket gjennom ekstraordinære fødselspenger og refusjoner, men lønnsdriften må strammes inn i T3.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Kommunal Skole: Helårsprognose og Tiltaksplan for Net Zero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VEDTATT ÅRSBUDSJETT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27,49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27 490 000 kr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EOY RUN-RATE PROGNOSE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28,35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Uendret drift (sprekk)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UAVBØTT AVVIK EOY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-863 000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Sprekk mot årsbudsjett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MÅLSCENARIO ETTER TILTAK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27,49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Avvik: 0 kr (Net Zero)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00400"/>
                <a:gridCol w="1188720"/>
                <a:gridCol w="1188720"/>
                <a:gridCol w="1280160"/>
                <a:gridCol w="1371600"/>
                <a:gridCol w="1950415"/>
              </a:tblGrid>
              <a:tr h="496388"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Tiltaksbeskrivelse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Område / 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Ansvarlig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Mnd Effekt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latin typeface="Segoe UI"/>
                        </a:defRPr>
                      </a:pPr>
                      <a:r>
                        <a:t>Total Effekt T3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latin typeface="Segoe UI"/>
                        </a:defRPr>
                      </a:pPr>
                      <a:r>
                        <a:t>Forankring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Stopp i eksterne lærervikarer; intern omdisponering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Undervisning / 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Rektor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125 000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Fagledermøte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Timeplanoptimalisering &amp; stans i ekstrahjelp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Ordinær / 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Inspektør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75 000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300 000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Timeplanlegger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Innkjøpsstopp for IKT-utstyr, lærebøker &amp; forbruk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Drift / 1110-1200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Rektor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50 000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Full innkjøpsfrys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Full avstemming og purring av NAV sykelønnsrefusjon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Refusjon / 1690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Skolesekretær/HR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Aktiv purring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250 000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Altinn/NAV avstemt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Samordning av spesialpedagogiske timer på tvers av trinn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Spes.und / 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Avdelingsleder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41 500 kr/mnd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50">
                          <a:latin typeface="Segoe UI"/>
                        </a:defRPr>
                      </a:pPr>
                      <a:r>
                        <a:t>166 000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PPT samråd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SUM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SAMLET TILTAKSEFFEKT KOMMUNAL SKOLE (T3)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Flere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Rektor / Ledergruppe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1 416 000 kr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Vedtak iverksatt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Konsolidert Tiltaksmatrise &amp; Net Zero Regnskapsavslutning 31.12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SAMLET ÅRSBUDSJETT</a:t>
            </a:r>
          </a:p>
          <a:p>
            <a:pPr>
              <a:spcBef>
                <a:spcPts val="200"/>
              </a:spcBef>
              <a:defRPr sz="1800" b="1">
                <a:solidFill>
                  <a:srgbClr val="0F172A"/>
                </a:solidFill>
              </a:defRPr>
            </a:pPr>
            <a:r>
              <a:t>44,72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Kommunal Boenhet + Kommunal Skole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RUN-RATE EOY (FØR TILTAK)</a:t>
            </a:r>
          </a:p>
          <a:p>
            <a:pPr>
              <a:spcBef>
                <a:spcPts val="200"/>
              </a:spcBef>
              <a:defRPr sz="1800" b="1">
                <a:solidFill>
                  <a:srgbClr val="DC2626"/>
                </a:solidFill>
              </a:defRPr>
            </a:pPr>
            <a:r>
              <a:t>47,52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-3,34 mill. kr merforbruk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SAMLET TILTAKSPAKKE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+3,34 mill.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Realisering Sept–Des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572768"/>
            <a:ext cx="21945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SLUTTRESULTAT 31.12</a:t>
            </a:r>
          </a:p>
          <a:p>
            <a:pPr>
              <a:spcBef>
                <a:spcPts val="200"/>
              </a:spcBef>
              <a:defRPr sz="1800" b="1">
                <a:solidFill>
                  <a:srgbClr val="16A34A"/>
                </a:solidFill>
              </a:defRPr>
            </a:pPr>
            <a:r>
              <a:t>0,00 kr</a:t>
            </a:r>
          </a:p>
          <a:p>
            <a:pPr>
              <a:spcBef>
                <a:spcPts val="200"/>
              </a:spcBef>
              <a:defRPr sz="800">
                <a:solidFill>
                  <a:srgbClr val="64748B"/>
                </a:solidFill>
              </a:defRPr>
            </a:pPr>
            <a:r>
              <a:t>Eksakt Net Zero balanse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2743200"/>
          <a:ext cx="1072865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463040"/>
                <a:gridCol w="1463040"/>
                <a:gridCol w="1645920"/>
                <a:gridCol w="1401775"/>
              </a:tblGrid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Hovedpost / Tiltakskategori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Kommunal Boenhet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Kommunal Skole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Samlet Effekt T3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Månedlig Takt (Sept-Des)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Garantist / Kontroll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1. Vikarrestriksjoner &amp; Stopp i Eksterne Byråer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500 000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500 000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1 000 000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250 000 kr / 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Enhetsledere / HR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2. Turnusomlegging, Overtidsstopp &amp; Timeplanoptimalisering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820 000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300 000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1 120 000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280 000 kr / 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Avdelingsledere / Tillitsvalgte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3. Driftsreduksjon &amp; Full Innkjøpsfrys (IKT/materiell)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50 000 kr / mnd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Økonomiavdelingen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4. Intensivert NAV Refusjonsavstemming (Sykepenger/IA)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400 000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250 000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650 000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Løpende purring Altinn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Lønnsavdelingen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5. Tilleggsfinansiering / Ressurskrevende Tjenester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208 421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166 000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374 421 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latin typeface="Segoe UI"/>
                        </a:defRPr>
                      </a:pPr>
                      <a:r>
                        <a:t>Søknad / Vedtaksjustering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latin typeface="Segoe UI"/>
                        </a:defRPr>
                      </a:pPr>
                      <a:r>
                        <a:t>Kommunalsjef / Stat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TOTALT INNSPART I 3. TERTIAL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1 928 421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1 416 000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3 344 421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836 105 kr / mnd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Periodisk månedsrapport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ÅRSBUDSJETT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17 233 691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27 490 000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44 723 691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Vedtatt av Bystyret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FORVENTET REGNSKAP MED TILTAK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17 233 691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27 490 000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44 723 691 kr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latin typeface="Segoe UI"/>
                        </a:defRPr>
                      </a:pPr>
                      <a:r>
                        <a:t>Revidert årsregnskap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SLUTTAVVIK PER 31.12.2026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(0,0 %)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(0,0 %)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0 kr (0,0 %)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NET ZERO OPPNÅDD ✓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KRISTIANSAND KOMMUNE | ØKONOMISTYRING &amp; EPM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</a:defRPr>
            </a:pPr>
            <a:r>
              <a:t>Ledelsesforankring, Human-in-the-Loop &amp; Kommuneloven § 14-5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1. HUMAN-IN-THE-LOOP (HITL)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Streamlit Portal: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Enhetsledere logger på lokalt webpanel og gjennomgår AI-genererte tiltaksforslag.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Glass-Box Transparens: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Ingen automatiske budsjettkutt. Menneskelig saksbehandler må aktivt godkjenne (GODKJENT / ENDRET / AVVIST).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Tjenstlig Begrunnelse: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Obligatorisk tekstfelt for faglig vurdering av forsvarlighet i tjenestetilbudet.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2. JURIDISK ETTERLEVELSE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Kommuneloven § 14-5: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Plikt til å iverksette korrigerende tiltak umiddelbart ved vesentlige budsjettavvik.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EU AI Act Art. 27: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Full sporbarhet for beslutningsstøttesystemer i offentlig sektor.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Revisjonsspor i SQLite: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Hver handling skrives direkte til 'Audit_AI_Actions' med tidsstempel, bruker-ID, konfidensscore og IP-adresse.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3. FREMDRIFT &amp; OPPFØLGING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Månedlig Avstemming: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Økonomiavdelingen avstemmer faktisk utfall mot tiltaksprofilen den 10. i hver måned.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Varsling ved Glipp: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Dersom tiltakseffekten svikter med &gt; 50 000 kr i en måned, trigges varsel til kommunalsjef.</a:t>
            </a:r>
          </a:p>
          <a:p>
            <a:pPr>
              <a:spcBef>
                <a:spcPts val="400"/>
              </a:spcBef>
              <a:defRPr sz="850" b="1">
                <a:solidFill>
                  <a:srgbClr val="0F172A"/>
                </a:solidFill>
              </a:defRPr>
            </a:pPr>
            <a:r>
              <a:t>• Årsavslutning 2026:</a:t>
            </a:r>
          </a:p>
          <a:p>
            <a:pPr>
              <a:spcBef>
                <a:spcPts val="400"/>
              </a:spcBef>
              <a:defRPr sz="850" b="0">
                <a:solidFill>
                  <a:srgbClr val="64748B"/>
                </a:solidFill>
              </a:defRPr>
            </a:pPr>
            <a:r>
              <a:t>  Revisjonsgodkjent regnskap avsluttes i full balanse med Net Zero avvik.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