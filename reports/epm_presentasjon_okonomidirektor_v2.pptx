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4A7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3800" b="1">
                <a:solidFill>
                  <a:srgbClr val="FFFFFF"/>
                </a:solidFill>
                <a:latin typeface="Georgia"/>
              </a:defRPr>
            </a:pPr>
            <a:r>
              <a:t>Helhetlig EPM &amp; AI Governance</a:t>
            </a:r>
          </a:p>
          <a:p>
            <a:pPr>
              <a:spcAft>
                <a:spcPts val="2400"/>
              </a:spcAft>
              <a:defRPr sz="2000">
                <a:solidFill>
                  <a:srgbClr val="E2E8F0"/>
                </a:solidFill>
                <a:latin typeface="Verdana"/>
              </a:defRPr>
            </a:pPr>
            <a:r>
              <a:t>10-Stegs Stage-Gate Modell, PAD-POR-PODS Metodikk &amp; Framsikt Årshjul</a:t>
            </a:r>
          </a:p>
          <a:p>
            <a:pPr>
              <a:defRPr sz="1300">
                <a:solidFill>
                  <a:srgbClr val="4A77A0"/>
                </a:solidFill>
                <a:latin typeface="Verdana"/>
              </a:defRPr>
            </a:pPr>
            <a:r>
              <a:t>Saksfremlegg og Strategisk Rammeverk for Økonomidirektøren og Lederteamet</a:t>
            </a:r>
            <a:br/>
            <a:r>
              <a:t>Kristiansand Kommune |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A77A0"/>
                </a:solidFill>
                <a:latin typeface="Verdana"/>
              </a:defRPr>
            </a:pPr>
            <a:r>
              <a:t>KRISTIANSAND KOMMUNE — EPM &amp; AI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B365D"/>
                </a:solidFill>
                <a:latin typeface="Georgia"/>
              </a:defRPr>
            </a:pPr>
            <a:r>
              <a:t>Sømløs kobling mellom forretningsbehov, etisk governance og kommunalt årshjul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4A7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28416" cy="548640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Verdana"/>
              </a:defRPr>
            </a:pPr>
            <a:r>
              <a:t>1. VISMA ERP-STØY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B365D"/>
                </a:solidFill>
                <a:latin typeface="Georgia"/>
              </a:defRPr>
            </a:pPr>
            <a:r>
              <a:t>Nøytralisering av Etterslep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  <a:latin typeface="Verdana"/>
              </a:defRPr>
            </a:pPr>
            <a:r>
              <a:t>• Bruttoprinsippet (Kommuneloven § 14-6) krever at vikarer føres på art 1020 og NAV-refusjon på art 1690.</a:t>
            </a:r>
            <a:br/>
            <a:r>
              <a:t>• Visma-overgangen i K1 skapte ~60 dagers etterslep på refusjoner.</a:t>
            </a:r>
            <a:br/>
            <a:r>
              <a:t>• EPM-modellen beregner automatisk [ERP NAV Refusjon Etterslep] (+300 tkr/skole) slik at reelt avvik fremstår korrekt (-150 tkr).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45920"/>
            <a:ext cx="332841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25696" y="1645920"/>
            <a:ext cx="3328416" cy="548640"/>
          </a:xfrm>
          <a:prstGeom prst="rect">
            <a:avLst/>
          </a:prstGeom>
          <a:solidFill>
            <a:srgbClr val="4A7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Verdana"/>
              </a:defRPr>
            </a:pPr>
            <a:r>
              <a:t>2. 10-STEGS STAGE-GATE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08576" y="22860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B365D"/>
                </a:solidFill>
                <a:latin typeface="Georgia"/>
              </a:defRPr>
            </a:pPr>
            <a:r>
              <a:t>Ansvarlig AI Governance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  <a:latin typeface="Verdana"/>
              </a:defRPr>
            </a:pPr>
            <a:r>
              <a:t>• Sikrer 100 % etterlevelse av EU AI Act, GDPR (DPIA/FRIA) og ISO/Eurocities.</a:t>
            </a:r>
            <a:br/>
            <a:r>
              <a:t>• Strenge krav til lokal PII-vask (pii_scrubber) før API-send.</a:t>
            </a:r>
            <a:br/>
            <a:r>
              <a:t>• Krav om Human-in-the-Loop (HITL) der saksbehandler må aktivt signere ut med APPROVED, MODIFIED eller REJECTED.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45920"/>
            <a:ext cx="332841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19872" y="1645920"/>
            <a:ext cx="3328416" cy="54864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  <a:latin typeface="Verdana"/>
              </a:defRPr>
            </a:pPr>
            <a:r>
              <a:t>3. PAD-POR-PODS &amp; ÅRSHJUL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2286000"/>
            <a:ext cx="296265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B365D"/>
                </a:solidFill>
                <a:latin typeface="Georgia"/>
              </a:defRPr>
            </a:pPr>
            <a:r>
              <a:t>Operativ Gjennomføringskraft</a:t>
            </a:r>
          </a:p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  <a:latin typeface="Verdana"/>
              </a:defRPr>
            </a:pPr>
            <a:r>
              <a:t>• PAD: Kartlegger Problem, Ability og Data (Pain-to-Gain).</a:t>
            </a:r>
            <a:br/>
            <a:r>
              <a:t>• POR: Trestegs livssyklus (Pilot, Optimize, Rollout) i sandkasse.</a:t>
            </a:r>
            <a:br/>
            <a:r>
              <a:t>• PODS: Tverrfaglige Innovation Pods (Controller, DPO, IT).</a:t>
            </a:r>
            <a:br/>
            <a:r>
              <a:t>• Framsikt Årshjul: Setter takten i K1–K4 med RNB deflator (4,1 %).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A77A0"/>
                </a:solidFill>
                <a:latin typeface="Verdana"/>
              </a:defRPr>
            </a:pPr>
            <a:r>
              <a:t>KRISTIANSAND KOMMUNE — EPM &amp; AI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B365D"/>
                </a:solidFill>
                <a:latin typeface="Georgia"/>
              </a:defRPr>
            </a:pPr>
            <a:r>
              <a:t>10-stegs portkontroll sikrer 100 % etterlevelse fra ide til algoritmeregister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4A7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560320"/>
                <a:gridCol w="4754880"/>
                <a:gridCol w="2316175"/>
              </a:tblGrid>
              <a:tr h="423949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Port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Gate-Navn &amp; Formål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Krav &amp; Leveranser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RACI Ansvar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4A77A0"/>
                          </a:solidFill>
                        </a:defRPr>
                      </a:pPr>
                      <a:r>
                        <a:t>Port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B365D"/>
                          </a:solidFill>
                        </a:defRPr>
                      </a:pPr>
                      <a:r>
                        <a:t>Behov &amp; Egnethet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8"/>
                          </a:solidFill>
                        </a:defRPr>
                      </a:pPr>
                      <a:r>
                        <a:t>Egnethetsanalyse, samfunnsnytte, nytte/kost-vurdering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718096"/>
                          </a:solidFill>
                        </a:defRPr>
                      </a:pPr>
                      <a:r>
                        <a:t>Økonomidirektør (A) / Controller (R)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4A77A0"/>
                          </a:solidFill>
                        </a:defRPr>
                      </a:pPr>
                      <a:r>
                        <a:t>Port 2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B365D"/>
                          </a:solidFill>
                        </a:defRPr>
                      </a:pPr>
                      <a:r>
                        <a:t>AI Act Klassifisering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8"/>
                          </a:solidFill>
                        </a:defRPr>
                      </a:pPr>
                      <a:r>
                        <a:t>Avklare forbudt/høyrisiko/lavrisiko jf. EU AI Act Art. 5/Vedlegg III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718096"/>
                          </a:solidFill>
                        </a:defRPr>
                      </a:pPr>
                      <a:r>
                        <a:t>Juridisk / DPO (R)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4A77A0"/>
                          </a:solidFill>
                        </a:defRPr>
                      </a:pPr>
                      <a:r>
                        <a:t>Port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B365D"/>
                          </a:solidFill>
                        </a:defRPr>
                      </a:pPr>
                      <a:r>
                        <a:t>Etisk Anskaffelse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8"/>
                          </a:solidFill>
                        </a:defRPr>
                      </a:pPr>
                      <a:r>
                        <a:t>Kreve AI FactSheets, ingen ekstern trening, dataportabilitet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718096"/>
                          </a:solidFill>
                        </a:defRPr>
                      </a:pPr>
                      <a:r>
                        <a:t>Innkjøp / IT (R)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4A77A0"/>
                          </a:solidFill>
                        </a:defRPr>
                      </a:pPr>
                      <a:r>
                        <a:t>Port 4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B365D"/>
                          </a:solidFill>
                        </a:defRPr>
                      </a:pPr>
                      <a:r>
                        <a:t>Lokal PII-Vask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8"/>
                          </a:solidFill>
                        </a:defRPr>
                      </a:pPr>
                      <a:r>
                        <a:t>Validere pii_scrubber for FNR, navn og kontonummer før API-send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718096"/>
                          </a:solidFill>
                        </a:defRPr>
                      </a:pPr>
                      <a:r>
                        <a:t>IT-Sikkerhet / Controller (R)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4A77A0"/>
                          </a:solidFill>
                        </a:defRPr>
                      </a:pPr>
                      <a:r>
                        <a:t>Port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B365D"/>
                          </a:solidFill>
                        </a:defRPr>
                      </a:pPr>
                      <a:r>
                        <a:t>DPIA &amp; FRIA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8"/>
                          </a:solidFill>
                        </a:defRPr>
                      </a:pPr>
                      <a:r>
                        <a:t>Personvernkonsekvenser (GDPR Art. 35) &amp; FRIA (AI Act Art. 27)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718096"/>
                          </a:solidFill>
                        </a:defRPr>
                      </a:pPr>
                      <a:r>
                        <a:t>DPO (R) / Juridisk (C)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4A77A0"/>
                          </a:solidFill>
                        </a:defRPr>
                      </a:pPr>
                      <a:r>
                        <a:t>Port 6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B365D"/>
                          </a:solidFill>
                        </a:defRPr>
                      </a:pPr>
                      <a:r>
                        <a:t>Sandkassetesting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8"/>
                          </a:solidFill>
                        </a:defRPr>
                      </a:pPr>
                      <a:r>
                        <a:t>Test i skjermet miljø, skjevhetstest, kurs jf. AI Act Art. 4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718096"/>
                          </a:solidFill>
                        </a:defRPr>
                      </a:pPr>
                      <a:r>
                        <a:t>PODS / Utvikler (R)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4A77A0"/>
                          </a:solidFill>
                        </a:defRPr>
                      </a:pPr>
                      <a:r>
                        <a:t>Port 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B365D"/>
                          </a:solidFill>
                        </a:defRPr>
                      </a:pPr>
                      <a:r>
                        <a:t>Menneskelig Tilsyn (HITL)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8"/>
                          </a:solidFill>
                        </a:defRPr>
                      </a:pPr>
                      <a:r>
                        <a:t>Tildele tilsynsansvar jf. Art. 26(2). Grensesnitt med APPROVED/REJECTED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718096"/>
                          </a:solidFill>
                        </a:defRPr>
                      </a:pPr>
                      <a:r>
                        <a:t>Enhetsleder / Controller (R)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4A77A0"/>
                          </a:solidFill>
                        </a:defRPr>
                      </a:pPr>
                      <a:r>
                        <a:t>Port 8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B365D"/>
                          </a:solidFill>
                        </a:defRPr>
                      </a:pPr>
                      <a:r>
                        <a:t>Varsling &amp; Registrering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8"/>
                          </a:solidFill>
                        </a:defRPr>
                      </a:pPr>
                      <a:r>
                        <a:t>FRIA-melding til Tilsyn, registrering i EU-database, brukervarsel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718096"/>
                          </a:solidFill>
                        </a:defRPr>
                      </a:pPr>
                      <a:r>
                        <a:t>DPO / Kommunikasjon (R)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423949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4A77A0"/>
                          </a:solidFill>
                        </a:defRPr>
                      </a:pPr>
                      <a:r>
                        <a:t>Port 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B365D"/>
                          </a:solidFill>
                        </a:defRPr>
                      </a:pPr>
                      <a:r>
                        <a:t>SHA-256 Audit 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8"/>
                          </a:solidFill>
                        </a:defRPr>
                      </a:pPr>
                      <a:r>
                        <a:t>Uforanderlig kryptografisk logg i Audit_AI_Actions for 6 mnd+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718096"/>
                          </a:solidFill>
                        </a:defRPr>
                      </a:pPr>
                      <a:r>
                        <a:t>IT-Sikkerhet / System (R)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395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4A77A0"/>
                          </a:solidFill>
                        </a:defRPr>
                      </a:pPr>
                      <a:r>
                        <a:t>Port 10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B365D"/>
                          </a:solidFill>
                        </a:defRPr>
                      </a:pPr>
                      <a:r>
                        <a:t>Algoritmeregister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748"/>
                          </a:solidFill>
                        </a:defRPr>
                      </a:pPr>
                      <a:r>
                        <a:t>Publisering i offentlig register (Eurocities) &amp; rullerende overvåking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718096"/>
                          </a:solidFill>
                        </a:defRPr>
                      </a:pPr>
                      <a:r>
                        <a:t>DPO / Økonomidirektør (A)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A77A0"/>
                </a:solidFill>
                <a:latin typeface="Verdana"/>
              </a:defRPr>
            </a:pPr>
            <a:r>
              <a:t>KRISTIANSAND KOMMUNE — EPM &amp; AI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B365D"/>
                </a:solidFill>
                <a:latin typeface="Georgia"/>
              </a:defRPr>
            </a:pPr>
            <a:r>
              <a:t>PAD-POR-PODS akselererer AI-piloter fra ide til trygg produksjonssetting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4A7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28416" cy="54864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Verdana"/>
              </a:defRPr>
            </a:pPr>
            <a:r>
              <a:t>PAD RAMMEVERKET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86000"/>
            <a:ext cx="305409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365D"/>
                </a:solidFill>
                <a:latin typeface="Georgia"/>
              </a:defRPr>
            </a:pPr>
            <a:r>
              <a:t>Strategisk Planlegging</a:t>
            </a:r>
          </a:p>
          <a:p>
            <a:pPr>
              <a:defRPr sz="1050">
                <a:solidFill>
                  <a:srgbClr val="2D3748"/>
                </a:solidFill>
                <a:latin typeface="Verdana"/>
              </a:defRPr>
            </a:pPr>
            <a:r>
              <a:t>• Problem (Pain-to-Gain):</a:t>
            </a:r>
            <a:br/>
            <a:r>
              <a:t>  Kartlegge reelt driftsbehov (f.eks. Visma-støy på art 1690) fremfor teknologi-hype.</a:t>
            </a:r>
            <a:br/>
            <a:br/>
            <a:r>
              <a:t>• Ability (Kapasitetsnivå):</a:t>
            </a:r>
            <a:br/>
            <a:r>
              <a:t>  Velge riktig AI-arkitektur (RAG Glass-Box, Copilot eller autonome agenter).</a:t>
            </a:r>
            <a:br/>
            <a:br/>
            <a:r>
              <a:t>• Data (Datagrunnlag):</a:t>
            </a:r>
            <a:br/>
            <a:r>
              <a:t>  Sikre tilgang til KOSTRA, Visma ERP og Framsikt via sikre REST API-er.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645920"/>
            <a:ext cx="3328416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25696" y="1645920"/>
            <a:ext cx="3328416" cy="548640"/>
          </a:xfrm>
          <a:prstGeom prst="rect">
            <a:avLst/>
          </a:prstGeom>
          <a:solidFill>
            <a:srgbClr val="4A7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Verdana"/>
              </a:defRPr>
            </a:pPr>
            <a:r>
              <a:t>POR LIVSSYKLUSEN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6" y="2286000"/>
            <a:ext cx="305409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365D"/>
                </a:solidFill>
                <a:latin typeface="Georgia"/>
              </a:defRPr>
            </a:pPr>
            <a:r>
              <a:t>Taktisk Gjennomføring</a:t>
            </a:r>
          </a:p>
          <a:p>
            <a:pPr>
              <a:defRPr sz="1050">
                <a:solidFill>
                  <a:srgbClr val="2D3748"/>
                </a:solidFill>
                <a:latin typeface="Verdana"/>
              </a:defRPr>
            </a:pPr>
            <a:r>
              <a:t>• Pilot (Sikker Sandkasse):</a:t>
            </a:r>
            <a:br/>
            <a:r>
              <a:t>  Bygge MVP på 4–6 uker. Teste PII-vask og RAG-presisjon i skjermet testmiljø.</a:t>
            </a:r>
            <a:br/>
            <a:br/>
            <a:r>
              <a:t>• Optimize (Optimalisering):</a:t>
            </a:r>
            <a:br/>
            <a:r>
              <a:t>  Finjustere promter, nøytralisere hallusinasjoner, redusere kostnad/latency.</a:t>
            </a:r>
            <a:br/>
            <a:br/>
            <a:r>
              <a:t>• Rollout (Produksjon):</a:t>
            </a:r>
            <a:br/>
            <a:r>
              <a:t>  Utrulling i Framsikt/M365 med telemetri, SHA-256 logg og overvåking.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45920"/>
            <a:ext cx="3328416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19872" y="1645920"/>
            <a:ext cx="3328416" cy="548640"/>
          </a:xfrm>
          <a:prstGeom prst="rect">
            <a:avLst/>
          </a:prstGeom>
          <a:solidFill>
            <a:srgbClr val="DD6B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Verdana"/>
              </a:defRPr>
            </a:pPr>
            <a:r>
              <a:t>PODS STRUKTUREN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57032" y="2286000"/>
            <a:ext cx="3054096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B365D"/>
                </a:solidFill>
                <a:latin typeface="Georgia"/>
              </a:defRPr>
            </a:pPr>
            <a:r>
              <a:t>Tverrfaglig Akselerasjon</a:t>
            </a:r>
          </a:p>
          <a:p>
            <a:pPr>
              <a:defRPr sz="1050">
                <a:solidFill>
                  <a:srgbClr val="2D3748"/>
                </a:solidFill>
                <a:latin typeface="Verdana"/>
              </a:defRPr>
            </a:pPr>
            <a:r>
              <a:t>• Autonom Tverrfaglighet:</a:t>
            </a:r>
            <a:br/>
            <a:r>
              <a:t>  Fjerner siloer ved å samle Controller, DPO, IT-arkitekt og Utvikler i én Pod.</a:t>
            </a:r>
            <a:br/>
            <a:br/>
            <a:r>
              <a:t>• Forhindrer Skygge-AI:</a:t>
            </a:r>
            <a:br/>
            <a:r>
              <a:t>  Sikrer at uoffisielle verktøy erstattes av godkjente, trygge kommunale løsninger.</a:t>
            </a:r>
            <a:br/>
            <a:br/>
            <a:r>
              <a:t>• Kontinuerlig Læring:</a:t>
            </a:r>
            <a:br/>
            <a:r>
              <a:t>  Bygger intern spisskompetanse jf. EU AI Act Art. 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A77A0"/>
                </a:solidFill>
                <a:latin typeface="Verdana"/>
              </a:defRPr>
            </a:pPr>
            <a:r>
              <a:t>KRISTIANSAND KOMMUNE — EPM &amp; AI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B365D"/>
                </a:solidFill>
                <a:latin typeface="Georgia"/>
              </a:defRPr>
            </a:pPr>
            <a:r>
              <a:t>PAD-POR-PODS er motoren, Stage-Gate er bremsen, Årshjulet setter takten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4A7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743200"/>
                <a:gridCol w="3200400"/>
                <a:gridCol w="2773375"/>
              </a:tblGrid>
              <a:tr h="93268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Framsikt Årshjul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PAD / POR / PODS Aktivitet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Stage-Gate Portkontroll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Verdana"/>
                        </a:defRPr>
                      </a:pPr>
                      <a:r>
                        <a:t>Operativ Leveranse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4A77A0"/>
                          </a:solidFill>
                        </a:defRPr>
                      </a:pPr>
                      <a:r>
                        <a:t>K1: Konsept &amp; Behov</a:t>
                      </a:r>
                      <a:br/>
                      <a:r>
                        <a:t>(Januar – Mars)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PAD Kartlegging:</a:t>
                      </a:r>
                      <a:br/>
                      <a:r>
                        <a:t>Problem (Visma-støy), Ability (RAG), Data (Visma/Framsikt).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1B365D"/>
                          </a:solidFill>
                        </a:defRPr>
                      </a:pPr>
                      <a:r>
                        <a:t>Port 1: Behov &amp; Egnethet</a:t>
                      </a:r>
                      <a:br/>
                      <a:r>
                        <a:t>Port 2: AI Act Klassifisering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Godkjent Pain-to-Gain notat.</a:t>
                      </a:r>
                      <a:br/>
                      <a:r>
                        <a:t>Søknad til kommunens KI-pott.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4A77A0"/>
                          </a:solidFill>
                        </a:defRPr>
                      </a:pPr>
                      <a:r>
                        <a:t>K2: Anskaffelse &amp; Pilot</a:t>
                      </a:r>
                      <a:br/>
                      <a:r>
                        <a:t>(April – Juni)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POR Pilotering &amp; PODS:</a:t>
                      </a:r>
                      <a:br/>
                      <a:r>
                        <a:t>Bygge MVP i sandkasse. Tverrfaglig Pod etableres.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1B365D"/>
                          </a:solidFill>
                        </a:defRPr>
                      </a:pPr>
                      <a:r>
                        <a:t>Port 3: Anskaffelseskontroll</a:t>
                      </a:r>
                      <a:br/>
                      <a:r>
                        <a:t>Port 4: PII-vask (pii_scrubber)</a:t>
                      </a:r>
                      <a:br/>
                      <a:r>
                        <a:t>Port 5: DPIA &amp; FRIA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Skjermet sandkassetest.</a:t>
                      </a:r>
                      <a:br/>
                      <a:r>
                        <a:t>Felles DPIA/FRIA godkjent.</a:t>
                      </a:r>
                      <a:br/>
                      <a:r>
                        <a:t>T1-Rapport leveranse.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4A77A0"/>
                          </a:solidFill>
                        </a:defRPr>
                      </a:pPr>
                      <a:r>
                        <a:t>K3: Optimalisering</a:t>
                      </a:r>
                      <a:br/>
                      <a:r>
                        <a:t>(Juli – September)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POR Optimalisering:</a:t>
                      </a:r>
                      <a:br/>
                      <a:r>
                        <a:t>Finjustere promter, nøytralisere art 1690, kildekobling.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1B365D"/>
                          </a:solidFill>
                        </a:defRPr>
                      </a:pPr>
                      <a:r>
                        <a:t>Port 6: Sandkassetesting &amp; Kurs</a:t>
                      </a:r>
                      <a:br/>
                      <a:r>
                        <a:t>Port 7: Menneskelig Tilsyn (HITL)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Saksbehandlere sertifisert.</a:t>
                      </a:r>
                      <a:br/>
                      <a:r>
                        <a:t>Kobling mot Framsikt HØP 2027–2030.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932688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4A77A0"/>
                          </a:solidFill>
                        </a:defRPr>
                      </a:pPr>
                      <a:r>
                        <a:t>K4: Utrulling &amp; Drift</a:t>
                      </a:r>
                      <a:br/>
                      <a:r>
                        <a:t>(Oktober – Desember)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POR Rollout:</a:t>
                      </a:r>
                      <a:br/>
                      <a:r>
                        <a:t>Produksjonssetting i enhetene med telemetri.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1B365D"/>
                          </a:solidFill>
                        </a:defRPr>
                      </a:pPr>
                      <a:r>
                        <a:t>Port 8: Varsling &amp; Registrering</a:t>
                      </a:r>
                      <a:br/>
                      <a:r>
                        <a:t>Port 9: SHA-256 Audit Log</a:t>
                      </a:r>
                      <a:br/>
                      <a:r>
                        <a:t>Port 10: Algoritmeregister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D3748"/>
                          </a:solidFill>
                        </a:defRPr>
                      </a:pPr>
                      <a:r>
                        <a:t>Full operativ drift.</a:t>
                      </a:r>
                      <a:br/>
                      <a:r>
                        <a:t>SHA-256 logg til Revisjon.</a:t>
                      </a:r>
                      <a:br/>
                      <a:r>
                        <a:t>Vedtak i Bystyret.</a:t>
                      </a:r>
                    </a:p>
                  </a:txBody>
                  <a:tcPr>
                    <a:solidFill>
                      <a:srgbClr val="EDF2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A77A0"/>
                </a:solidFill>
                <a:latin typeface="Verdana"/>
              </a:defRPr>
            </a:pPr>
            <a:r>
              <a:t>KRISTIANSAND KOMMUNE — EPM &amp; AI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B365D"/>
                </a:solidFill>
                <a:latin typeface="Georgia"/>
              </a:defRPr>
            </a:pPr>
            <a:r>
              <a:t>Dekomponeringstre og What-If parametre isolerer reelt underliggende driftsavvik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4A7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1B365D"/>
                </a:solidFill>
                <a:latin typeface="Georgia"/>
              </a:defRPr>
            </a:pPr>
            <a:r>
              <a:t>Visma ERP-Støy &amp; Formelverket</a:t>
            </a:r>
          </a:p>
          <a:p>
            <a:pPr>
              <a:defRPr sz="1050">
                <a:solidFill>
                  <a:srgbClr val="2D3748"/>
                </a:solidFill>
                <a:latin typeface="Verdana"/>
              </a:defRPr>
            </a:pPr>
            <a:r>
              <a:t>1. Bruttoprinsippet (Kommuneloven § 14-6):</a:t>
            </a:r>
            <a:br/>
            <a:r>
              <a:t>   Vikarutgifter føres på Art 1020, mens NAV-refusjon godskrives Art 1690.</a:t>
            </a:r>
            <a:br/>
            <a:br/>
            <a:r>
              <a:t>2. Visma-etterslep (1. Tertial 2026):</a:t>
            </a:r>
            <a:br/>
            <a:r>
              <a:t>   Påløpt vikarbruk ble registrert umiddelbart, mens motgående NAV-refusjon fikk ~60 dagers etterslep.</a:t>
            </a:r>
            <a:br/>
            <a:br/>
            <a:r>
              <a:t>3. DAX-Korreksjonsformel i Power BI / Excel:</a:t>
            </a:r>
            <a:br/>
            <a:r>
              <a:t>   [Korrigert Ramme] = Vedtatt Ramme + Framsikt Deflator (4,1 %)</a:t>
            </a:r>
            <a:br/>
            <a:r>
              <a:t>   [Reelt Driftsavvik] = Visma Bokført - Korrigert Ramme + [ERP NAV Refusjon Etterslep]</a:t>
            </a:r>
            <a:br/>
            <a:br/>
            <a:r>
              <a:t>4. Praktisk Effektivitet:</a:t>
            </a:r>
            <a:br/>
            <a:r>
              <a:t>   Nøytraliserer kr 300 000 i fiktivt merforbruk per skole, slik at reelt avvik blir kun -150 tkr.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42255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1B365D"/>
                </a:solidFill>
                <a:latin typeface="Georgia"/>
              </a:defRPr>
            </a:pPr>
            <a:r>
              <a:t>Innebygd Microsoft Visual Best Practice</a:t>
            </a:r>
          </a:p>
          <a:p>
            <a:pPr>
              <a:defRPr sz="1050">
                <a:solidFill>
                  <a:srgbClr val="2D3748"/>
                </a:solidFill>
                <a:latin typeface="Verdana"/>
              </a:defRPr>
            </a:pPr>
            <a:r>
              <a:t>• Storytelling (10-Sekunders Regelen):</a:t>
            </a:r>
            <a:br/>
            <a:r>
              <a:t>  Bruk av gule aksjonsbanners og narrative overskrifter som gir umiddelbar innsikt.</a:t>
            </a:r>
            <a:br/>
            <a:br/>
            <a:r>
              <a:t>• Power BI Dekomponeringstre (AI Visual):</a:t>
            </a:r>
            <a:br/>
            <a:r>
              <a:t>  Graver fra Sektor ➔ Funksjon ➔ Enhet ➔ Art for å finne rotårsaken til avvik på sekunder.</a:t>
            </a:r>
            <a:br/>
            <a:br/>
            <a:r>
              <a:t>• Power BI What-If Parametre:</a:t>
            </a:r>
            <a:br/>
            <a:r>
              <a:t>  Interaktive sliders for Framsikt Deflator (2 % – 6 %) og Fraværstiltak (0 % – 3 %).</a:t>
            </a:r>
            <a:br/>
            <a:br/>
            <a:r>
              <a:t>• Excels Native Slicere &amp; Drill-Down (+/-):</a:t>
            </a:r>
            <a:br/>
            <a:r>
              <a:t>  Gruppering på 3 nivåer, In-Cell Data Bars og RAG-ikonsett utan hardkoding.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A77A0"/>
                </a:solidFill>
                <a:latin typeface="Verdana"/>
              </a:defRPr>
            </a:pPr>
            <a:r>
              <a:t>KRISTIANSAND KOMMUNE — EPM &amp; AI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B365D"/>
                </a:solidFill>
                <a:latin typeface="Georgia"/>
              </a:defRPr>
            </a:pPr>
            <a:r>
              <a:t>Tre konkrete vedtakspunkter for Økonomidirektøren og Lederteamet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9050"/>
          </a:xfrm>
          <a:prstGeom prst="rect">
            <a:avLst/>
          </a:prstGeom>
          <a:solidFill>
            <a:srgbClr val="4A7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82880" cy="12801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102714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Georgia"/>
              </a:defRPr>
            </a:pPr>
            <a:r>
              <a:t>VEDTAKSPUNKT 1: Godkjenne 10-Stegs Stage-Gate Modell for Kommunal AI</a:t>
            </a:r>
          </a:p>
          <a:p>
            <a:pPr>
              <a:spcBef>
                <a:spcPts val="400"/>
              </a:spcBef>
              <a:defRPr sz="1050">
                <a:solidFill>
                  <a:srgbClr val="2D3748"/>
                </a:solidFill>
                <a:latin typeface="Verdana"/>
              </a:defRPr>
            </a:pPr>
            <a:r>
              <a:t>Vedta den 10-stegs Stage-Gate modellen (Port 1–10) som Kristiansand kommunes tverrfaglige standard for risikoklassifisering, DPIA/FRIA-gjennomføring og publisering i Algoritmeregisteret.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69881"/>
            <a:ext cx="10728655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169881"/>
            <a:ext cx="182880" cy="1280160"/>
          </a:xfrm>
          <a:prstGeom prst="rect">
            <a:avLst/>
          </a:prstGeom>
          <a:solidFill>
            <a:srgbClr val="4A77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261321"/>
            <a:ext cx="102714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Georgia"/>
              </a:defRPr>
            </a:pPr>
            <a:r>
              <a:t>VEDTAKSPUNKT 2: Etablere Tverrfaglig AI Innovation Pod (PODS)</a:t>
            </a:r>
          </a:p>
          <a:p>
            <a:pPr>
              <a:spcBef>
                <a:spcPts val="400"/>
              </a:spcBef>
              <a:defRPr sz="1050">
                <a:solidFill>
                  <a:srgbClr val="2D3748"/>
                </a:solidFill>
                <a:latin typeface="Verdana"/>
              </a:defRPr>
            </a:pPr>
            <a:r>
              <a:t>Sikre operativ gjennomføringskraft ved å opprette en fast Innovation Pod sammensatt av Økonomirådgiver, DPO, IT-Sikkerhet og Utvikler for 2. tertial 2026.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693843"/>
            <a:ext cx="10728655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4693843"/>
            <a:ext cx="182880" cy="128016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785283"/>
            <a:ext cx="102714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B365D"/>
                </a:solidFill>
                <a:latin typeface="Georgia"/>
              </a:defRPr>
            </a:pPr>
            <a:r>
              <a:t>VEDTAKSPUNKT 3: Iverksette Controller AI Portal med SHA-256 Audit Trail</a:t>
            </a:r>
          </a:p>
          <a:p>
            <a:pPr>
              <a:spcBef>
                <a:spcPts val="400"/>
              </a:spcBef>
              <a:defRPr sz="1050">
                <a:solidFill>
                  <a:srgbClr val="2D3748"/>
                </a:solidFill>
                <a:latin typeface="Verdana"/>
              </a:defRPr>
            </a:pPr>
            <a:r>
              <a:t>Godkjenne pilotutrulling av Controller AI Portal integrert med Framsikt og Visma ERP, med uforanderlig SHA-256 loggføring (Audit_AI_Actions) for Kommunerevisjonen.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