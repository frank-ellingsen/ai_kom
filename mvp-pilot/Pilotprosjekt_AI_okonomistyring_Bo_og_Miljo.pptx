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BoMiljø.csv, brukerlevert datasett.
01_data_integration_etl_agent.md; 04_prescriptive_hitl_agent.md; 05_ethics_governance_gatekeeper_agent.md.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BoMiljø.csv.
02_bi_dax_modeler_agent.md: YTD- og EOY-mønster.
03_predictive_anomaly_agent.md: Boenhetsregel for vikar/overtid.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01_data_integration_etl_agent.md; 04_prescriptive_hitl_agent.md; 05_ethics_governance_gatekeeper_agent.md.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BoMiljø.csv og modellestimater fra Bo_og_Miljo_AI_case_v4.xlsx.
04_prescriptive_hitl_agent.md; 05_ethics_governance_gatekeeper_agent.md.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Notat_praktisk_implementering_pilot_Bo_og_Miljo.docx.
Økonomireglement for Kristiansand kommune: budsjettfullmakter og disponering av vedtatt ramme.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Notat_praktisk_implementering_pilot_Bo_og_Miljo.docx.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7365D"/>
          </a:solidFill>
          <a:ln w="12700">
            <a:solidFill>
              <a:srgbClr val="17365D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Text 1"/>
          <p:cNvSpPr/>
          <p:nvPr/>
        </p:nvSpPr>
        <p:spPr>
          <a:xfrm>
            <a:off x="502920" y="6519672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 kommunal økonomistyring | Pilot Bo og Miljø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9966960" y="6519672"/>
            <a:ext cx="1691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Frank Ellingsen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164592"/>
            <a:ext cx="12191695" cy="6400800"/>
          </a:xfrm>
          <a:prstGeom prst="rect">
            <a:avLst/>
          </a:prstGeom>
          <a:solidFill>
            <a:srgbClr val="F7F9FB"/>
          </a:solidFill>
          <a:ln w="12700">
            <a:solidFill>
              <a:srgbClr val="F7F9FB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" name="Shape 1"/>
          <p:cNvSpPr/>
          <p:nvPr/>
        </p:nvSpPr>
        <p:spPr>
          <a:xfrm>
            <a:off x="594360" y="594360"/>
            <a:ext cx="109728" cy="5212080"/>
          </a:xfrm>
          <a:prstGeom prst="rect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" name="Text 2"/>
          <p:cNvSpPr/>
          <p:nvPr/>
        </p:nvSpPr>
        <p:spPr>
          <a:xfrm>
            <a:off x="960120" y="960120"/>
            <a:ext cx="6217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Pilotprosjekt:</a:t>
            </a:r>
            <a:endParaRPr lang="en-US" sz="3000" dirty="0"/>
          </a:p>
          <a:p>
            <a:pPr marL="0" indent="0">
              <a:buNone/>
            </a:pPr>
            <a:r>
              <a:rPr lang="en-US" sz="30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AI-assistert økonomistyring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87552" y="239572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6B78"/>
                </a:solidFill>
              </a:rPr>
              <a:t>Bo og Miljø som avgrenset pilotcase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87552" y="2944368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44054"/>
                </a:solidFill>
              </a:rPr>
              <a:t>Fra tidlig avviksvarsling til kontrollert tiltaksoppfølging, med menneskelig beslutningsansvar.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543800" y="1188720"/>
            <a:ext cx="3703320" cy="3520440"/>
          </a:xfrm>
          <a:prstGeom prst="roundRect">
            <a:avLst>
              <a:gd name="adj" fmla="val 1299"/>
            </a:avLst>
          </a:prstGeom>
          <a:solidFill>
            <a:srgbClr val="EAF0F4"/>
          </a:solidFill>
          <a:ln w="12700">
            <a:solidFill>
              <a:srgbClr val="D5DE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Shape 6"/>
          <p:cNvSpPr/>
          <p:nvPr/>
        </p:nvSpPr>
        <p:spPr>
          <a:xfrm>
            <a:off x="7973568" y="1508760"/>
            <a:ext cx="2852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8092440" y="160020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65D"/>
                </a:solidFill>
              </a:rPr>
              <a:t>NÅSITUASJON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973568" y="1984248"/>
            <a:ext cx="2852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8092440" y="2075688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65D"/>
                </a:solidFill>
              </a:rPr>
              <a:t>EOY-PROGNOSE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73568" y="2459736"/>
            <a:ext cx="2852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8092440" y="2551176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65D"/>
                </a:solidFill>
              </a:rPr>
              <a:t>AI-TILTAK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973568" y="2935224"/>
            <a:ext cx="2852928" cy="329184"/>
          </a:xfrm>
          <a:prstGeom prst="roundRect">
            <a:avLst>
              <a:gd name="adj" fmla="val 8333"/>
            </a:avLst>
          </a:prstGeom>
          <a:solidFill>
            <a:srgbClr val="E2F0D9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3"/>
          <p:cNvSpPr/>
          <p:nvPr/>
        </p:nvSpPr>
        <p:spPr>
          <a:xfrm>
            <a:off x="8092440" y="3026664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6A34A"/>
                </a:solidFill>
              </a:rPr>
              <a:t>GOVERNANCE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973568" y="3410712"/>
            <a:ext cx="2852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8092440" y="3502152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65D"/>
                </a:solidFill>
              </a:rPr>
              <a:t>NY EOY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973568" y="3886200"/>
            <a:ext cx="2852928" cy="32918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9" name="Text 17"/>
          <p:cNvSpPr/>
          <p:nvPr/>
        </p:nvSpPr>
        <p:spPr>
          <a:xfrm>
            <a:off x="8092440" y="3977640"/>
            <a:ext cx="26060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65D"/>
                </a:solidFill>
              </a:rPr>
              <a:t>LÆRING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18120" y="498348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65D"/>
                </a:solidFill>
              </a:rPr>
              <a:t>Målet er bedre beslutningsstøtte, ikke autonom økonomistyring.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Hvorfor pilotere på Bo og Miljø?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Ett avgrenset case som kan demonstrere hele styringssløyfen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24688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749808" y="143560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</a:rPr>
              <a:t>Budsjett YTD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49808" y="170992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11,34 mill. kr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3273552" y="1325880"/>
            <a:ext cx="24688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Text 6"/>
          <p:cNvSpPr/>
          <p:nvPr/>
        </p:nvSpPr>
        <p:spPr>
          <a:xfrm>
            <a:off x="3383280" y="143560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</a:rPr>
              <a:t>Regnskap YTD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383280" y="170992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7365D"/>
                </a:solidFill>
              </a:rPr>
              <a:t>12,62 mill. kr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07024" y="1325880"/>
            <a:ext cx="24688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1" name="Text 9"/>
          <p:cNvSpPr/>
          <p:nvPr/>
        </p:nvSpPr>
        <p:spPr>
          <a:xfrm>
            <a:off x="6016752" y="143560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</a:rPr>
              <a:t>Merforbruk YTD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016752" y="170992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52521"/>
                </a:solidFill>
              </a:rPr>
              <a:t>1,29 mill. kr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540496" y="1325880"/>
            <a:ext cx="246888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2"/>
          <p:cNvSpPr/>
          <p:nvPr/>
        </p:nvSpPr>
        <p:spPr>
          <a:xfrm>
            <a:off x="8650224" y="1435608"/>
            <a:ext cx="2249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67085"/>
                </a:solidFill>
              </a:rPr>
              <a:t>EOY-avvik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8650224" y="1709928"/>
            <a:ext cx="2249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E52521"/>
                </a:solidFill>
              </a:rPr>
              <a:t>1,93 mill. kr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85800" y="257860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Hvorfor caset egner seg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77240" y="3063240"/>
            <a:ext cx="146304" cy="146304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6"/>
          <p:cNvSpPr/>
          <p:nvPr/>
        </p:nvSpPr>
        <p:spPr>
          <a:xfrm>
            <a:off x="1051560" y="29809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</a:rPr>
              <a:t>Månedlige budsjett- og regnskapstall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3547872"/>
            <a:ext cx="146304" cy="146304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1051560" y="34655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</a:rPr>
              <a:t>KOSTRA-funksjon 254 med tydelige kostnadsdrivere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4032504"/>
            <a:ext cx="146304" cy="146304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1051560" y="395020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</a:rPr>
              <a:t>Vikar, overtid, fastlønn og refusjoner kan følges separat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517136"/>
            <a:ext cx="146304" cy="146304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4" name="Text 22"/>
          <p:cNvSpPr/>
          <p:nvPr/>
        </p:nvSpPr>
        <p:spPr>
          <a:xfrm>
            <a:off x="105156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</a:rPr>
              <a:t>Kan testes på historiske/aggregert økonomidata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77240" y="5001768"/>
            <a:ext cx="146304" cy="146304"/>
          </a:xfrm>
          <a:prstGeom prst="ellipse">
            <a:avLst/>
          </a:prstGeom>
          <a:solidFill>
            <a:srgbClr val="0F6B78"/>
          </a:solidFill>
          <a:ln w="12700">
            <a:solidFill>
              <a:srgbClr val="0F6B7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6" name="Text 24"/>
          <p:cNvSpPr/>
          <p:nvPr/>
        </p:nvSpPr>
        <p:spPr>
          <a:xfrm>
            <a:off x="1051560" y="491947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</a:rPr>
              <a:t>Relevant for lederstøtte, men avgrenset nok til pilot</a:t>
            </a:r>
            <a:endParaRPr lang="en-US" sz="1200" dirty="0"/>
          </a:p>
        </p:txBody>
      </p:sp>
      <p:pic>
        <p:nvPicPr>
          <p:cNvPr id="27" name="Image 0" descr="/mnt/data/bo_case_assets/phase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944988"/>
            <a:ext cx="5440680" cy="2175033"/>
          </a:xfrm>
          <a:prstGeom prst="rect">
            <a:avLst/>
          </a:prstGeom>
        </p:spPr>
      </p:pic>
      <p:sp>
        <p:nvSpPr>
          <p:cNvPr id="28" name="Shape 25"/>
          <p:cNvSpPr/>
          <p:nvPr/>
        </p:nvSpPr>
        <p:spPr>
          <a:xfrm>
            <a:off x="594360" y="5760720"/>
            <a:ext cx="10972800" cy="475488"/>
          </a:xfrm>
          <a:prstGeom prst="roundRect">
            <a:avLst>
              <a:gd name="adj" fmla="val 7692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9" name="Text 26"/>
          <p:cNvSpPr/>
          <p:nvPr/>
        </p:nvSpPr>
        <p:spPr>
          <a:xfrm>
            <a:off x="786384" y="5879592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65D"/>
                </a:solidFill>
              </a:rPr>
              <a:t>Pilotspørsmål: Kan vi oppdage, forklare og håndtere økonomisk risiko tidligere enn i dagens periodiske rapportering?</a:t>
            </a:r>
            <a:endParaRPr lang="en-US" sz="95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Fra situasjonsbilde til ny prognose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Pilotens arbeidsflyt med tydelige kontrollpunkter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35331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576072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8"/>
                </a:solidFill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1975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65D"/>
                </a:solidFill>
              </a:rPr>
              <a:t>Nåsituasjon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94360" y="2258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KPI, avvik, trend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1865376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A2B3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139696" y="1572768"/>
            <a:ext cx="135331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2212848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8"/>
                </a:solidFill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258568" y="1975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65D"/>
                </a:solidFill>
              </a:rPr>
              <a:t>EOY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31136" y="2258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Prognose uten tiltak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502152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A2B3"/>
                </a:solidFill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776472" y="1572768"/>
            <a:ext cx="135331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3"/>
          <p:cNvSpPr/>
          <p:nvPr/>
        </p:nvSpPr>
        <p:spPr>
          <a:xfrm>
            <a:off x="3849624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8"/>
                </a:solidFill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895344" y="1975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65D"/>
                </a:solidFill>
              </a:rPr>
              <a:t>AI-tiltak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867912" y="2258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Kandidattiltak + effekt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38928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A2B3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413248" y="1572768"/>
            <a:ext cx="1353312" cy="1078992"/>
          </a:xfrm>
          <a:prstGeom prst="roundRect">
            <a:avLst>
              <a:gd name="adj" fmla="val 4237"/>
            </a:avLst>
          </a:prstGeom>
          <a:solidFill>
            <a:srgbClr val="E2F0D9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5486400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A34A"/>
                </a:solidFill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532120" y="1975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65D"/>
                </a:solidFill>
              </a:rPr>
              <a:t>Governance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04688" y="2258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Lov, tariff, HMS, fullmakt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75704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A2B3"/>
                </a:solidFill>
              </a:rPr>
              <a:t>→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050024" y="1572768"/>
            <a:ext cx="1353312" cy="1078992"/>
          </a:xfrm>
          <a:prstGeom prst="roundRect">
            <a:avLst>
              <a:gd name="adj" fmla="val 4237"/>
            </a:avLst>
          </a:prstGeom>
          <a:solidFill>
            <a:srgbClr val="F2EAF7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Text 23"/>
          <p:cNvSpPr/>
          <p:nvPr/>
        </p:nvSpPr>
        <p:spPr>
          <a:xfrm>
            <a:off x="7123176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8"/>
                </a:solidFill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68896" y="1975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65D"/>
                </a:solidFill>
              </a:rPr>
              <a:t>Beslutning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141464" y="2258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Godkjenn / endre / avvis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8412480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A2B3"/>
                </a:solidFill>
              </a:rPr>
              <a:t>→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8686800" y="1572768"/>
            <a:ext cx="135331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8759952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8"/>
                </a:solidFill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8805672" y="1975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65D"/>
                </a:solidFill>
              </a:rPr>
              <a:t>Ny EOY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778240" y="2258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Reberegn scenario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10049256" y="18836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98A2B3"/>
                </a:solidFill>
              </a:rPr>
              <a:t>→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323576" y="1572768"/>
            <a:ext cx="1353312" cy="1078992"/>
          </a:xfrm>
          <a:prstGeom prst="roundRect">
            <a:avLst>
              <a:gd name="adj" fmla="val 42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5" name="Text 33"/>
          <p:cNvSpPr/>
          <p:nvPr/>
        </p:nvSpPr>
        <p:spPr>
          <a:xfrm>
            <a:off x="10396728" y="1682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6B78"/>
                </a:solidFill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0442448" y="1975104"/>
            <a:ext cx="10972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365D"/>
                </a:solidFill>
              </a:rPr>
              <a:t>Læring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0415016" y="2258568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67085"/>
                </a:solidFill>
              </a:rPr>
              <a:t>Mål realisert effekt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58368" y="3246120"/>
            <a:ext cx="5230368" cy="1600200"/>
          </a:xfrm>
          <a:prstGeom prst="roundRect">
            <a:avLst>
              <a:gd name="adj" fmla="val 2857"/>
            </a:avLst>
          </a:prstGeom>
          <a:solidFill>
            <a:srgbClr val="EAF0F4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9" name="Text 37"/>
          <p:cNvSpPr/>
          <p:nvPr/>
        </p:nvSpPr>
        <p:spPr>
          <a:xfrm>
            <a:off x="914400" y="34930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6B78"/>
                </a:solidFill>
              </a:rPr>
              <a:t>Hva AI gjør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4400" y="3886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</a:rPr>
              <a:t>• forklarer sannsynlige kostnadsdrivere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</a:rPr>
              <a:t>• genererer relevante kandidattiltak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</a:rPr>
              <a:t>• sammenstiller scenarioer og utkast til lederkommentar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291072" y="3246120"/>
            <a:ext cx="5230368" cy="1600200"/>
          </a:xfrm>
          <a:prstGeom prst="roundRect">
            <a:avLst>
              <a:gd name="adj" fmla="val 2857"/>
            </a:avLst>
          </a:prstGeom>
          <a:solidFill>
            <a:srgbClr val="E2F0D9"/>
          </a:solidFill>
          <a:ln w="12700">
            <a:solidFill>
              <a:srgbClr val="B7D7A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2" name="Text 40"/>
          <p:cNvSpPr/>
          <p:nvPr/>
        </p:nvSpPr>
        <p:spPr>
          <a:xfrm>
            <a:off x="6547104" y="34930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A34A"/>
                </a:solidFill>
              </a:rPr>
              <a:t>Hva AI ikke gjør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547104" y="38862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</a:rPr>
              <a:t>• endrer ikke budsjett eller regnskap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</a:rPr>
              <a:t>• godkjenner ikke tariff-/lovspørsmål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44054"/>
                </a:solidFill>
              </a:rPr>
              <a:t>• iverksetter ikke tiltak uten menneskelig beslutning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94360" y="5760720"/>
            <a:ext cx="10972800" cy="475488"/>
          </a:xfrm>
          <a:prstGeom prst="roundRect">
            <a:avLst>
              <a:gd name="adj" fmla="val 7692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45" name="Text 43"/>
          <p:cNvSpPr/>
          <p:nvPr/>
        </p:nvSpPr>
        <p:spPr>
          <a:xfrm>
            <a:off x="786384" y="5879592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65D"/>
                </a:solidFill>
              </a:rPr>
              <a:t>Kontrollprinsipp: AI foreslår. Regler avgrenser. Modellen beregner. Lederen beslutter.</a:t>
            </a:r>
            <a:endParaRPr lang="en-US" sz="950" dirty="0"/>
          </a:p>
        </p:txBody>
      </p:sp>
      <p:sp>
        <p:nvSpPr>
          <p:cNvPr id="4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Tiltak og forventet effekt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Kandidattiltak gjennom governance før ny EOY-prognose</a:t>
            </a:r>
            <a:endParaRPr lang="en-US" sz="1050" dirty="0"/>
          </a:p>
        </p:txBody>
      </p:sp>
      <p:pic>
        <p:nvPicPr>
          <p:cNvPr id="4" name="Image 0" descr="/mnt/data/bo_case_assets/measures_waterfa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1981969"/>
            <a:ext cx="6675120" cy="2674607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571232" y="1353312"/>
            <a:ext cx="3931920" cy="38862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6" name="Text 3"/>
          <p:cNvSpPr/>
          <p:nvPr/>
        </p:nvSpPr>
        <p:spPr>
          <a:xfrm>
            <a:off x="7882128" y="16002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6A34A"/>
                </a:solidFill>
              </a:rPr>
              <a:t>Governance Gate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909560" y="214884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8" name="Text 5"/>
          <p:cNvSpPr/>
          <p:nvPr/>
        </p:nvSpPr>
        <p:spPr>
          <a:xfrm>
            <a:off x="8211312" y="20665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Faglig realisme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909560" y="260604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7"/>
          <p:cNvSpPr/>
          <p:nvPr/>
        </p:nvSpPr>
        <p:spPr>
          <a:xfrm>
            <a:off x="8211312" y="25237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HR / tariff / arbeidstid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909560" y="306324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2" name="Text 9"/>
          <p:cNvSpPr/>
          <p:nvPr/>
        </p:nvSpPr>
        <p:spPr>
          <a:xfrm>
            <a:off x="8211312" y="29809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HMS og tjenestekvalitet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909560" y="352044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4" name="Text 11"/>
          <p:cNvSpPr/>
          <p:nvPr/>
        </p:nvSpPr>
        <p:spPr>
          <a:xfrm>
            <a:off x="8211312" y="34381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Fullmakt og budsjettregler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909560" y="3977640"/>
            <a:ext cx="128016" cy="128016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6" name="Text 13"/>
          <p:cNvSpPr/>
          <p:nvPr/>
        </p:nvSpPr>
        <p:spPr>
          <a:xfrm>
            <a:off x="8211312" y="389534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Personvern ved behov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7882128" y="4526280"/>
            <a:ext cx="3291840" cy="438912"/>
          </a:xfrm>
          <a:prstGeom prst="roundRect">
            <a:avLst>
              <a:gd name="adj" fmla="val 6250"/>
            </a:avLst>
          </a:prstGeom>
          <a:solidFill>
            <a:srgbClr val="FCE4D6"/>
          </a:solidFill>
          <a:ln w="12700">
            <a:solidFill>
              <a:srgbClr val="F4B183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8" name="Text 15"/>
          <p:cNvSpPr/>
          <p:nvPr/>
        </p:nvSpPr>
        <p:spPr>
          <a:xfrm>
            <a:off x="8065008" y="46451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7365D"/>
                </a:solidFill>
              </a:rPr>
              <a:t>Kun GODKJENTE tiltak inngår i anbefalt scenario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94360" y="5760720"/>
            <a:ext cx="10972800" cy="475488"/>
          </a:xfrm>
          <a:prstGeom prst="roundRect">
            <a:avLst>
              <a:gd name="adj" fmla="val 7692"/>
            </a:avLst>
          </a:prstGeom>
          <a:solidFill>
            <a:srgbClr val="FCE4D6"/>
          </a:solidFill>
          <a:ln w="12700">
            <a:solidFill>
              <a:srgbClr val="FCE4D6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7"/>
          <p:cNvSpPr/>
          <p:nvPr/>
        </p:nvSpPr>
        <p:spPr>
          <a:xfrm>
            <a:off x="786384" y="5879592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65D"/>
                </a:solidFill>
              </a:rPr>
              <a:t>MVP-estimatene er hypoteser som piloten skal teste, ikke lovede besparelser.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Hvordan gjennomføre piloten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Start i shadow mode og skaler bare hvis data, prognose og governance fungerer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307592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EAF0F4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758952" y="147218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65D"/>
                </a:solidFill>
              </a:rPr>
              <a:t>0  Forankring</a:t>
            </a:r>
            <a:endParaRPr lang="en-US" sz="980" dirty="0"/>
          </a:p>
        </p:txBody>
      </p:sp>
      <p:sp>
        <p:nvSpPr>
          <p:cNvPr id="6" name="Text 4"/>
          <p:cNvSpPr/>
          <p:nvPr/>
        </p:nvSpPr>
        <p:spPr>
          <a:xfrm>
            <a:off x="2359152" y="142646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8"/>
                </a:solidFill>
              </a:rPr>
              <a:t>1–2 uker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401568" y="139903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Mandat, piloteier, data og roller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389888" y="1837944"/>
            <a:ext cx="1" cy="219456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9" name="Shape 7"/>
          <p:cNvSpPr/>
          <p:nvPr/>
        </p:nvSpPr>
        <p:spPr>
          <a:xfrm>
            <a:off x="640080" y="2057400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EAF0F4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0" name="Text 8"/>
          <p:cNvSpPr/>
          <p:nvPr/>
        </p:nvSpPr>
        <p:spPr>
          <a:xfrm>
            <a:off x="758952" y="2221992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65D"/>
                </a:solidFill>
              </a:rPr>
              <a:t>1  Data &amp; baseline</a:t>
            </a:r>
            <a:endParaRPr lang="en-US" sz="980" dirty="0"/>
          </a:p>
        </p:txBody>
      </p:sp>
      <p:sp>
        <p:nvSpPr>
          <p:cNvPr id="11" name="Text 9"/>
          <p:cNvSpPr/>
          <p:nvPr/>
        </p:nvSpPr>
        <p:spPr>
          <a:xfrm>
            <a:off x="2359152" y="2176272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8"/>
                </a:solidFill>
              </a:rPr>
              <a:t>2–3 uker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401568" y="2148840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Avstemming, KPI-er og baseline EOY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389888" y="2587752"/>
            <a:ext cx="1" cy="219456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14" name="Shape 12"/>
          <p:cNvSpPr/>
          <p:nvPr/>
        </p:nvSpPr>
        <p:spPr>
          <a:xfrm>
            <a:off x="640080" y="2807208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E2F0D9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5" name="Text 13"/>
          <p:cNvSpPr/>
          <p:nvPr/>
        </p:nvSpPr>
        <p:spPr>
          <a:xfrm>
            <a:off x="758952" y="297180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6A34A"/>
                </a:solidFill>
              </a:rPr>
              <a:t>2  Shadow mode</a:t>
            </a:r>
            <a:endParaRPr lang="en-US" sz="980" dirty="0"/>
          </a:p>
        </p:txBody>
      </p:sp>
      <p:sp>
        <p:nvSpPr>
          <p:cNvPr id="16" name="Text 14"/>
          <p:cNvSpPr/>
          <p:nvPr/>
        </p:nvSpPr>
        <p:spPr>
          <a:xfrm>
            <a:off x="2359152" y="2926080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8"/>
                </a:solidFill>
              </a:rPr>
              <a:t>4–6 uker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01568" y="2898648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Varsler/prognoser uten operative tiltak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389888" y="3337560"/>
            <a:ext cx="1" cy="219456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19" name="Shape 17"/>
          <p:cNvSpPr/>
          <p:nvPr/>
        </p:nvSpPr>
        <p:spPr>
          <a:xfrm>
            <a:off x="640080" y="3557016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EAF0F4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0" name="Text 18"/>
          <p:cNvSpPr/>
          <p:nvPr/>
        </p:nvSpPr>
        <p:spPr>
          <a:xfrm>
            <a:off x="758952" y="3721608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65D"/>
                </a:solidFill>
              </a:rPr>
              <a:t>3  Tiltak &amp; HITL</a:t>
            </a:r>
            <a:endParaRPr lang="en-US" sz="980" dirty="0"/>
          </a:p>
        </p:txBody>
      </p:sp>
      <p:sp>
        <p:nvSpPr>
          <p:cNvPr id="21" name="Text 19"/>
          <p:cNvSpPr/>
          <p:nvPr/>
        </p:nvSpPr>
        <p:spPr>
          <a:xfrm>
            <a:off x="2359152" y="3675888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8"/>
                </a:solidFill>
              </a:rPr>
              <a:t>4–6 uker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401568" y="3648456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Governance, scenario og ledergodkjenning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389888" y="4087368"/>
            <a:ext cx="1" cy="219456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24" name="Shape 22"/>
          <p:cNvSpPr/>
          <p:nvPr/>
        </p:nvSpPr>
        <p:spPr>
          <a:xfrm>
            <a:off x="640080" y="4306824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EAF0F4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5" name="Text 23"/>
          <p:cNvSpPr/>
          <p:nvPr/>
        </p:nvSpPr>
        <p:spPr>
          <a:xfrm>
            <a:off x="758952" y="4471416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65D"/>
                </a:solidFill>
              </a:rPr>
              <a:t>4  Effektmåling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2359152" y="442569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8"/>
                </a:solidFill>
              </a:rPr>
              <a:t>2–3 mnd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01568" y="4398264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Faktisk effekt, tidsbruk og kvalitet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389888" y="4837176"/>
            <a:ext cx="1" cy="219456"/>
          </a:xfrm>
          <a:prstGeom prst="line">
            <a:avLst/>
          </a:prstGeom>
          <a:noFill/>
          <a:ln w="15240">
            <a:solidFill>
              <a:srgbClr val="98A2B3"/>
            </a:solidFill>
            <a:prstDash val="solid"/>
            <a:tailEnd type="triangle"/>
          </a:ln>
        </p:spPr>
        <p:txBody>
          <a:bodyPr/>
          <a:lstStyle/>
          <a:p>
            <a:endParaRPr lang="nb-NO"/>
          </a:p>
        </p:txBody>
      </p:sp>
      <p:sp>
        <p:nvSpPr>
          <p:cNvPr id="29" name="Shape 27"/>
          <p:cNvSpPr/>
          <p:nvPr/>
        </p:nvSpPr>
        <p:spPr>
          <a:xfrm>
            <a:off x="640080" y="5056632"/>
            <a:ext cx="1508760" cy="530352"/>
          </a:xfrm>
          <a:prstGeom prst="roundRect">
            <a:avLst>
              <a:gd name="adj" fmla="val 6897"/>
            </a:avLst>
          </a:prstGeom>
          <a:solidFill>
            <a:srgbClr val="EAF0F4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0" name="Text 28"/>
          <p:cNvSpPr/>
          <p:nvPr/>
        </p:nvSpPr>
        <p:spPr>
          <a:xfrm>
            <a:off x="758952" y="5221224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17365D"/>
                </a:solidFill>
              </a:rPr>
              <a:t>5  Beslutning</a:t>
            </a:r>
            <a:endParaRPr lang="en-US" sz="980" dirty="0"/>
          </a:p>
        </p:txBody>
      </p:sp>
      <p:sp>
        <p:nvSpPr>
          <p:cNvPr id="31" name="Text 29"/>
          <p:cNvSpPr/>
          <p:nvPr/>
        </p:nvSpPr>
        <p:spPr>
          <a:xfrm>
            <a:off x="2359152" y="5175504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6B78"/>
                </a:solidFill>
              </a:rPr>
              <a:t>1 uke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01568" y="5148072"/>
            <a:ext cx="4800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Skaler, juster eller avslutt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8549640" y="1371600"/>
            <a:ext cx="2926080" cy="4251960"/>
          </a:xfrm>
          <a:prstGeom prst="roundRect">
            <a:avLst>
              <a:gd name="adj" fmla="val 156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34" name="Text 32"/>
          <p:cNvSpPr/>
          <p:nvPr/>
        </p:nvSpPr>
        <p:spPr>
          <a:xfrm>
            <a:off x="8851392" y="166420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Suksesskriterier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8869680" y="21762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89720" y="21854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Tall avstemmer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8869680" y="25877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89720" y="25968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Tidligere varsling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869680" y="299923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89720" y="300837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Forklarbar EOY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869680" y="341071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9189720" y="341985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100 % HITL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869680" y="382219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189720" y="383133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Ingen uavklarte tiltak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8869680" y="423367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9189720" y="424281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Realisert gevinst måles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8869680" y="4645152"/>
            <a:ext cx="228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6A34A"/>
                </a:solidFill>
              </a:rPr>
              <a:t>✓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9189720" y="4654296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4054"/>
                </a:solidFill>
              </a:rPr>
              <a:t>Tjenestekvalitet ivaretas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94360" y="5760720"/>
            <a:ext cx="10972800" cy="475488"/>
          </a:xfrm>
          <a:prstGeom prst="roundRect">
            <a:avLst>
              <a:gd name="adj" fmla="val 7692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0" name="Text 48"/>
          <p:cNvSpPr/>
          <p:nvPr/>
        </p:nvSpPr>
        <p:spPr>
          <a:xfrm>
            <a:off x="786384" y="5879592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65D"/>
                </a:solidFill>
              </a:rPr>
              <a:t>Anbefaling: gjennomfør en liten, reverserbar pilot på historiske/aggregert data før produksjonsnær bruk.</a:t>
            </a:r>
            <a:endParaRPr lang="en-US" sz="950" dirty="0"/>
          </a:p>
        </p:txBody>
      </p:sp>
      <p:sp>
        <p:nvSpPr>
          <p:cNvPr id="5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530352" y="393192"/>
            <a:ext cx="11064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7365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Hva piloten skal bevise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548640" y="87782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67085"/>
                </a:solidFill>
              </a:rPr>
              <a:t>Beslutningsgrunnlag før eventuell skalering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5074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5" name="Text 3"/>
          <p:cNvSpPr/>
          <p:nvPr/>
        </p:nvSpPr>
        <p:spPr>
          <a:xfrm>
            <a:off x="886968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B78"/>
                </a:solidFill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35608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Bedre innsikt?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35608" y="20756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Oppdager løsningen økonomisk risiko tidligere og mer presist?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45352" y="1508760"/>
            <a:ext cx="5074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9" name="Text 7"/>
          <p:cNvSpPr/>
          <p:nvPr/>
        </p:nvSpPr>
        <p:spPr>
          <a:xfrm>
            <a:off x="6446520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B78"/>
                </a:solidFill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995160" y="17007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Bedre prognose?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995160" y="20756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Er EOY-prognosen mer treffsikker og forklarbar enn dagens baseline?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85800" y="3355848"/>
            <a:ext cx="507492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8E0E8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3" name="Text 11"/>
          <p:cNvSpPr/>
          <p:nvPr/>
        </p:nvSpPr>
        <p:spPr>
          <a:xfrm>
            <a:off x="886968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6B78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35608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Trygge tiltak?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35608" y="39227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Er anbefalingene gjennomførbare innen tjeneste, tariff, lovverk og fullmakt?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45352" y="3355848"/>
            <a:ext cx="5074920" cy="1371600"/>
          </a:xfrm>
          <a:prstGeom prst="roundRect">
            <a:avLst>
              <a:gd name="adj" fmla="val 3333"/>
            </a:avLst>
          </a:prstGeom>
          <a:solidFill>
            <a:srgbClr val="E2F0D9"/>
          </a:solidFill>
          <a:ln w="12700">
            <a:solidFill>
              <a:srgbClr val="16A34A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17" name="Text 15"/>
          <p:cNvSpPr/>
          <p:nvPr/>
        </p:nvSpPr>
        <p:spPr>
          <a:xfrm>
            <a:off x="644652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6A34A"/>
                </a:solidFill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99516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65D"/>
                </a:solidFill>
              </a:rPr>
              <a:t>Reell gevinst?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995160" y="392277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44054"/>
                </a:solidFill>
              </a:rPr>
              <a:t>Blir estimert effekt faktisk realisert, og reduseres manuelt analysearbeid?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234440" y="5358384"/>
            <a:ext cx="9738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65D"/>
                </a:solidFill>
              </a:rPr>
              <a:t>Skaler bare dersom piloten viser bedre styringsinformasjon med akseptabel risiko, kostnad og arbeidsbelastning.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94360" y="5760720"/>
            <a:ext cx="10972800" cy="475488"/>
          </a:xfrm>
          <a:prstGeom prst="roundRect">
            <a:avLst>
              <a:gd name="adj" fmla="val 7692"/>
            </a:avLst>
          </a:prstGeom>
          <a:solidFill>
            <a:srgbClr val="E2F0D9"/>
          </a:solidFill>
          <a:ln w="12700">
            <a:solidFill>
              <a:srgbClr val="E2F0D9"/>
            </a:solidFill>
            <a:prstDash val="solid"/>
          </a:ln>
        </p:spPr>
        <p:txBody>
          <a:bodyPr/>
          <a:lstStyle/>
          <a:p>
            <a:endParaRPr lang="nb-NO"/>
          </a:p>
        </p:txBody>
      </p:sp>
      <p:sp>
        <p:nvSpPr>
          <p:cNvPr id="22" name="Text 20"/>
          <p:cNvSpPr/>
          <p:nvPr/>
        </p:nvSpPr>
        <p:spPr>
          <a:xfrm>
            <a:off x="786384" y="5879592"/>
            <a:ext cx="10561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365D"/>
                </a:solidFill>
              </a:rPr>
              <a:t>Pilotens sluttprodukt er ikke en AI-demo. Det er et dokumentert beslutningsgrunnlag for skalering, justering eller avslutning.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667085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778</Words>
  <Application>Microsoft Office PowerPoint</Application>
  <PresentationFormat>Widescreen</PresentationFormat>
  <Paragraphs>146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Pilotprosjekt: AI-assistert økonomistyring | Bo og Miljø</dc:title>
  <dc:subject>Pilotprosjekt AI i kommunal økonomistyring</dc:subject>
  <dc:creator>M365 Copilot</dc:creator>
  <cp:lastModifiedBy>Frank Ellingsen</cp:lastModifiedBy>
  <cp:revision>1</cp:revision>
  <dcterms:created xsi:type="dcterms:W3CDTF">2026-10-12T18:47:26Z</dcterms:created>
  <dcterms:modified xsi:type="dcterms:W3CDTF">2026-10-12T18:54:24Z</dcterms:modified>
</cp:coreProperties>
</file>